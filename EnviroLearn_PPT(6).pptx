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share.google/ZCb6gtvNoM5jXcLZu"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mdpi.com/2071-1050/17/24/11038"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researchcorridor.org/index.php/jj/article/view/171/162"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researchgate.net/profile/Alexandr-Iscenco/publication/363014083_The_Game_with_Impact_Gamification_in_Environmental_Education_and_Entrepreneurship/links/630a06cc1ddd44702111e3fc/The-Game-with-Impact-Gamification-in-Environmental-Education-and-Entrepreneurship.pdf"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image" Target="../media/image-19-3.jpe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share.google/ZCb6gtvNoM5jXcLZu" TargetMode="External"/><Relationship Id="rId2" Type="http://schemas.openxmlformats.org/officeDocument/2006/relationships/hyperlink" Target="https://www.mdpi.com/2071-1050/17/24/11038" TargetMode="External"/><Relationship Id="rId3" Type="http://schemas.openxmlformats.org/officeDocument/2006/relationships/hyperlink" Target="https://researchcorridor.org/index.php/jj/article/view/171/162" TargetMode="External"/><Relationship Id="rId4" Type="http://schemas.openxmlformats.org/officeDocument/2006/relationships/hyperlink" Target="https://www.researchgate.net/profile/Alexandr-Iscenco/publication/363014083_The_Game_with_Impact_Gamification_in_Environmental_Education_and_Entrepreneurship/links/630a06cc1ddd44702111e3fc/The-Game-with-Impact-Gamification-in-Environmental-Education-and-Entrepreneurship.pdf" TargetMode="External"/><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4CAF50"/>
          </a:solidFill>
          <a:ln/>
        </p:spPr>
      </p:sp>
      <p:sp>
        <p:nvSpPr>
          <p:cNvPr id="3" name="Shape 1"/>
          <p:cNvSpPr/>
          <p:nvPr/>
        </p:nvSpPr>
        <p:spPr>
          <a:xfrm>
            <a:off x="457200" y="457200"/>
            <a:ext cx="8229600" cy="4206240"/>
          </a:xfrm>
          <a:prstGeom prst="rect">
            <a:avLst/>
          </a:prstGeom>
          <a:solidFill>
            <a:srgbClr val="FFFFFF"/>
          </a:solidFill>
          <a:ln/>
          <a:effectLst>
            <a:outerShdw sx="100000" sy="100000" kx="0" ky="0" algn="bl" rotWithShape="0" blurRad="190500" dist="50800" dir="16200000">
              <a:srgbClr val="000000">
                <a:alpha val="25000"/>
              </a:srgbClr>
            </a:outerShdw>
          </a:effectLst>
        </p:spPr>
      </p:sp>
      <p:sp>
        <p:nvSpPr>
          <p:cNvPr id="4" name="Shape 2"/>
          <p:cNvSpPr/>
          <p:nvPr/>
        </p:nvSpPr>
        <p:spPr>
          <a:xfrm>
            <a:off x="457200" y="457200"/>
            <a:ext cx="8229600" cy="109728"/>
          </a:xfrm>
          <a:prstGeom prst="rect">
            <a:avLst/>
          </a:prstGeom>
          <a:solidFill>
            <a:srgbClr val="F9A825"/>
          </a:solidFill>
          <a:ln/>
        </p:spPr>
      </p:sp>
      <p:sp>
        <p:nvSpPr>
          <p:cNvPr id="5" name="Text 3"/>
          <p:cNvSpPr/>
          <p:nvPr/>
        </p:nvSpPr>
        <p:spPr>
          <a:xfrm>
            <a:off x="457200" y="731520"/>
            <a:ext cx="8229600" cy="1005840"/>
          </a:xfrm>
          <a:prstGeom prst="rect">
            <a:avLst/>
          </a:prstGeom>
          <a:noFill/>
          <a:ln/>
        </p:spPr>
        <p:txBody>
          <a:bodyPr wrap="square" rtlCol="0" anchor="ctr"/>
          <a:lstStyle/>
          <a:p>
            <a:pPr algn="ctr" indent="0" marL="0">
              <a:buNone/>
            </a:pPr>
            <a:r>
              <a:rPr lang="en-US" sz="5400" b="1" dirty="0">
                <a:solidFill>
                  <a:srgbClr val="1B5E20"/>
                </a:solidFill>
                <a:latin typeface="Calibri" pitchFamily="34" charset="0"/>
                <a:ea typeface="Calibri" pitchFamily="34" charset="-122"/>
                <a:cs typeface="Calibri" pitchFamily="34" charset="-120"/>
              </a:rPr>
              <a:t>ENVIROLEARN</a:t>
            </a:r>
            <a:endParaRPr lang="en-US" sz="5400" dirty="0"/>
          </a:p>
        </p:txBody>
      </p:sp>
      <p:sp>
        <p:nvSpPr>
          <p:cNvPr id="6" name="Text 4"/>
          <p:cNvSpPr/>
          <p:nvPr/>
        </p:nvSpPr>
        <p:spPr>
          <a:xfrm>
            <a:off x="457200" y="1691640"/>
            <a:ext cx="8229600" cy="457200"/>
          </a:xfrm>
          <a:prstGeom prst="rect">
            <a:avLst/>
          </a:prstGeom>
          <a:noFill/>
          <a:ln/>
        </p:spPr>
        <p:txBody>
          <a:bodyPr wrap="square" rtlCol="0" anchor="ctr"/>
          <a:lstStyle/>
          <a:p>
            <a:pPr algn="ctr" indent="0" marL="0">
              <a:buNone/>
            </a:pPr>
            <a:r>
              <a:rPr lang="en-US" sz="1600" i="1" dirty="0">
                <a:solidFill>
                  <a:srgbClr val="00695C"/>
                </a:solidFill>
                <a:latin typeface="Calibri" pitchFamily="34" charset="0"/>
                <a:ea typeface="Calibri" pitchFamily="34" charset="-122"/>
                <a:cs typeface="Calibri" pitchFamily="34" charset="-120"/>
              </a:rPr>
              <a:t>A Gamified Environmental Education Platform for Schools</a:t>
            </a:r>
            <a:endParaRPr lang="en-US" sz="1600" dirty="0"/>
          </a:p>
        </p:txBody>
      </p:sp>
      <p:sp>
        <p:nvSpPr>
          <p:cNvPr id="7" name="Shape 5"/>
          <p:cNvSpPr/>
          <p:nvPr/>
        </p:nvSpPr>
        <p:spPr>
          <a:xfrm>
            <a:off x="1828800" y="2286000"/>
            <a:ext cx="5486400" cy="27432"/>
          </a:xfrm>
          <a:prstGeom prst="rect">
            <a:avLst/>
          </a:prstGeom>
          <a:solidFill>
            <a:srgbClr val="4CAF50"/>
          </a:solidFill>
          <a:ln/>
        </p:spPr>
      </p:sp>
      <p:sp>
        <p:nvSpPr>
          <p:cNvPr id="8" name="Text 6"/>
          <p:cNvSpPr/>
          <p:nvPr/>
        </p:nvSpPr>
        <p:spPr>
          <a:xfrm>
            <a:off x="914400" y="2514600"/>
            <a:ext cx="3200400" cy="274320"/>
          </a:xfrm>
          <a:prstGeom prst="rect">
            <a:avLst/>
          </a:prstGeom>
          <a:noFill/>
          <a:ln/>
        </p:spPr>
        <p:txBody>
          <a:bodyPr wrap="square" rtlCol="0" anchor="ctr"/>
          <a:lstStyle/>
          <a:p>
            <a:pPr indent="0" marL="0">
              <a:buNone/>
            </a:pPr>
            <a:r>
              <a:rPr lang="en-US" sz="1200" b="1" dirty="0">
                <a:solidFill>
                  <a:srgbClr val="546E7A"/>
                </a:solidFill>
                <a:latin typeface="Calibri" pitchFamily="34" charset="0"/>
                <a:ea typeface="Calibri" pitchFamily="34" charset="-122"/>
                <a:cs typeface="Calibri" pitchFamily="34" charset="-120"/>
              </a:rPr>
              <a:t>Presented by:</a:t>
            </a:r>
            <a:endParaRPr lang="en-US" sz="1200" dirty="0"/>
          </a:p>
        </p:txBody>
      </p:sp>
      <p:sp>
        <p:nvSpPr>
          <p:cNvPr id="9" name="Text 7"/>
          <p:cNvSpPr/>
          <p:nvPr/>
        </p:nvSpPr>
        <p:spPr>
          <a:xfrm>
            <a:off x="914400" y="2834640"/>
            <a:ext cx="3200400" cy="256032"/>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Gouri Nandana J</a:t>
            </a:r>
            <a:endParaRPr lang="en-US" sz="1300" dirty="0"/>
          </a:p>
        </p:txBody>
      </p:sp>
      <p:sp>
        <p:nvSpPr>
          <p:cNvPr id="10" name="Text 8"/>
          <p:cNvSpPr/>
          <p:nvPr/>
        </p:nvSpPr>
        <p:spPr>
          <a:xfrm>
            <a:off x="914400" y="3090672"/>
            <a:ext cx="3200400" cy="256032"/>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Jerena Ann Jacob</a:t>
            </a:r>
            <a:endParaRPr lang="en-US" sz="1300" dirty="0"/>
          </a:p>
        </p:txBody>
      </p:sp>
      <p:sp>
        <p:nvSpPr>
          <p:cNvPr id="11" name="Text 9"/>
          <p:cNvSpPr/>
          <p:nvPr/>
        </p:nvSpPr>
        <p:spPr>
          <a:xfrm>
            <a:off x="914400" y="3346704"/>
            <a:ext cx="3200400" cy="256032"/>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Jyothika Sasi</a:t>
            </a:r>
            <a:endParaRPr lang="en-US" sz="1300" dirty="0"/>
          </a:p>
        </p:txBody>
      </p:sp>
      <p:sp>
        <p:nvSpPr>
          <p:cNvPr id="12" name="Text 10"/>
          <p:cNvSpPr/>
          <p:nvPr/>
        </p:nvSpPr>
        <p:spPr>
          <a:xfrm>
            <a:off x="914400" y="3602736"/>
            <a:ext cx="3200400" cy="256032"/>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Nandana S Nair</a:t>
            </a:r>
            <a:endParaRPr lang="en-US" sz="1300" dirty="0"/>
          </a:p>
        </p:txBody>
      </p:sp>
      <p:sp>
        <p:nvSpPr>
          <p:cNvPr id="13" name="Text 11"/>
          <p:cNvSpPr/>
          <p:nvPr/>
        </p:nvSpPr>
        <p:spPr>
          <a:xfrm>
            <a:off x="5029200" y="2514600"/>
            <a:ext cx="3657600" cy="274320"/>
          </a:xfrm>
          <a:prstGeom prst="rect">
            <a:avLst/>
          </a:prstGeom>
          <a:noFill/>
          <a:ln/>
        </p:spPr>
        <p:txBody>
          <a:bodyPr wrap="square" rtlCol="0" anchor="ctr"/>
          <a:lstStyle/>
          <a:p>
            <a:pPr indent="0" marL="0">
              <a:buNone/>
            </a:pPr>
            <a:r>
              <a:rPr lang="en-US" sz="1200" b="1" dirty="0">
                <a:solidFill>
                  <a:srgbClr val="546E7A"/>
                </a:solidFill>
                <a:latin typeface="Calibri" pitchFamily="34" charset="0"/>
                <a:ea typeface="Calibri" pitchFamily="34" charset="-122"/>
                <a:cs typeface="Calibri" pitchFamily="34" charset="-120"/>
              </a:rPr>
              <a:t>Guide:</a:t>
            </a:r>
            <a:endParaRPr lang="en-US" sz="1200" dirty="0"/>
          </a:p>
        </p:txBody>
      </p:sp>
      <p:sp>
        <p:nvSpPr>
          <p:cNvPr id="14" name="Text 12"/>
          <p:cNvSpPr/>
          <p:nvPr/>
        </p:nvSpPr>
        <p:spPr>
          <a:xfrm>
            <a:off x="5029200" y="2834640"/>
            <a:ext cx="3657600" cy="27432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Smt. Chinchu M Pillai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INDEX</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365760" y="822960"/>
            <a:ext cx="411480" cy="347472"/>
          </a:xfrm>
          <a:prstGeom prst="rect">
            <a:avLst>
              <a:gd name="adj" fmla="val 13158"/>
            </a:avLst>
          </a:prstGeom>
          <a:solidFill>
            <a:srgbClr val="1B5E20"/>
          </a:solidFill>
          <a:ln/>
        </p:spPr>
      </p:sp>
      <p:sp>
        <p:nvSpPr>
          <p:cNvPr id="8" name="Text 6"/>
          <p:cNvSpPr/>
          <p:nvPr/>
        </p:nvSpPr>
        <p:spPr>
          <a:xfrm>
            <a:off x="365760" y="82296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914400" y="85953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Introduction</a:t>
            </a:r>
            <a:endParaRPr lang="en-US" sz="1300" dirty="0"/>
          </a:p>
        </p:txBody>
      </p:sp>
      <p:sp>
        <p:nvSpPr>
          <p:cNvPr id="10" name="Shape 8"/>
          <p:cNvSpPr/>
          <p:nvPr/>
        </p:nvSpPr>
        <p:spPr>
          <a:xfrm>
            <a:off x="365760" y="1325880"/>
            <a:ext cx="411480" cy="347472"/>
          </a:xfrm>
          <a:prstGeom prst="rect">
            <a:avLst>
              <a:gd name="adj" fmla="val 13158"/>
            </a:avLst>
          </a:prstGeom>
          <a:solidFill>
            <a:srgbClr val="1B5E20"/>
          </a:solidFill>
          <a:ln/>
        </p:spPr>
      </p:sp>
      <p:sp>
        <p:nvSpPr>
          <p:cNvPr id="11" name="Text 9"/>
          <p:cNvSpPr/>
          <p:nvPr/>
        </p:nvSpPr>
        <p:spPr>
          <a:xfrm>
            <a:off x="365760" y="132588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914400" y="136245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Problem Statement</a:t>
            </a:r>
            <a:endParaRPr lang="en-US" sz="1300" dirty="0"/>
          </a:p>
        </p:txBody>
      </p:sp>
      <p:sp>
        <p:nvSpPr>
          <p:cNvPr id="13" name="Shape 11"/>
          <p:cNvSpPr/>
          <p:nvPr/>
        </p:nvSpPr>
        <p:spPr>
          <a:xfrm>
            <a:off x="365760" y="1828800"/>
            <a:ext cx="411480" cy="347472"/>
          </a:xfrm>
          <a:prstGeom prst="rect">
            <a:avLst>
              <a:gd name="adj" fmla="val 13158"/>
            </a:avLst>
          </a:prstGeom>
          <a:solidFill>
            <a:srgbClr val="1B5E20"/>
          </a:solidFill>
          <a:ln/>
        </p:spPr>
      </p:sp>
      <p:sp>
        <p:nvSpPr>
          <p:cNvPr id="14" name="Text 12"/>
          <p:cNvSpPr/>
          <p:nvPr/>
        </p:nvSpPr>
        <p:spPr>
          <a:xfrm>
            <a:off x="365760" y="182880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5" name="Text 13"/>
          <p:cNvSpPr/>
          <p:nvPr/>
        </p:nvSpPr>
        <p:spPr>
          <a:xfrm>
            <a:off x="914400" y="186537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Literature Review</a:t>
            </a:r>
            <a:endParaRPr lang="en-US" sz="1300" dirty="0"/>
          </a:p>
        </p:txBody>
      </p:sp>
      <p:sp>
        <p:nvSpPr>
          <p:cNvPr id="16" name="Shape 14"/>
          <p:cNvSpPr/>
          <p:nvPr/>
        </p:nvSpPr>
        <p:spPr>
          <a:xfrm>
            <a:off x="365760" y="2331720"/>
            <a:ext cx="411480" cy="347472"/>
          </a:xfrm>
          <a:prstGeom prst="rect">
            <a:avLst>
              <a:gd name="adj" fmla="val 13158"/>
            </a:avLst>
          </a:prstGeom>
          <a:solidFill>
            <a:srgbClr val="1B5E20"/>
          </a:solidFill>
          <a:ln/>
        </p:spPr>
      </p:sp>
      <p:sp>
        <p:nvSpPr>
          <p:cNvPr id="17" name="Text 15"/>
          <p:cNvSpPr/>
          <p:nvPr/>
        </p:nvSpPr>
        <p:spPr>
          <a:xfrm>
            <a:off x="365760" y="233172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8" name="Text 16"/>
          <p:cNvSpPr/>
          <p:nvPr/>
        </p:nvSpPr>
        <p:spPr>
          <a:xfrm>
            <a:off x="914400" y="236829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Proposed Solution</a:t>
            </a:r>
            <a:endParaRPr lang="en-US" sz="1300" dirty="0"/>
          </a:p>
        </p:txBody>
      </p:sp>
      <p:sp>
        <p:nvSpPr>
          <p:cNvPr id="19" name="Shape 17"/>
          <p:cNvSpPr/>
          <p:nvPr/>
        </p:nvSpPr>
        <p:spPr>
          <a:xfrm>
            <a:off x="365760" y="2834640"/>
            <a:ext cx="411480" cy="347472"/>
          </a:xfrm>
          <a:prstGeom prst="rect">
            <a:avLst>
              <a:gd name="adj" fmla="val 13158"/>
            </a:avLst>
          </a:prstGeom>
          <a:solidFill>
            <a:srgbClr val="1B5E20"/>
          </a:solidFill>
          <a:ln/>
        </p:spPr>
      </p:sp>
      <p:sp>
        <p:nvSpPr>
          <p:cNvPr id="20" name="Text 18"/>
          <p:cNvSpPr/>
          <p:nvPr/>
        </p:nvSpPr>
        <p:spPr>
          <a:xfrm>
            <a:off x="365760" y="283464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1" name="Text 19"/>
          <p:cNvSpPr/>
          <p:nvPr/>
        </p:nvSpPr>
        <p:spPr>
          <a:xfrm>
            <a:off x="914400" y="287121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System Architecture</a:t>
            </a:r>
            <a:endParaRPr lang="en-US" sz="1300" dirty="0"/>
          </a:p>
        </p:txBody>
      </p:sp>
      <p:sp>
        <p:nvSpPr>
          <p:cNvPr id="22" name="Shape 20"/>
          <p:cNvSpPr/>
          <p:nvPr/>
        </p:nvSpPr>
        <p:spPr>
          <a:xfrm>
            <a:off x="365760" y="3337560"/>
            <a:ext cx="411480" cy="347472"/>
          </a:xfrm>
          <a:prstGeom prst="rect">
            <a:avLst>
              <a:gd name="adj" fmla="val 13158"/>
            </a:avLst>
          </a:prstGeom>
          <a:solidFill>
            <a:srgbClr val="1B5E20"/>
          </a:solidFill>
          <a:ln/>
        </p:spPr>
      </p:sp>
      <p:sp>
        <p:nvSpPr>
          <p:cNvPr id="23" name="Text 21"/>
          <p:cNvSpPr/>
          <p:nvPr/>
        </p:nvSpPr>
        <p:spPr>
          <a:xfrm>
            <a:off x="365760" y="333756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4" name="Text 22"/>
          <p:cNvSpPr/>
          <p:nvPr/>
        </p:nvSpPr>
        <p:spPr>
          <a:xfrm>
            <a:off x="914400" y="337413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Use Case Diagram</a:t>
            </a:r>
            <a:endParaRPr lang="en-US" sz="1300" dirty="0"/>
          </a:p>
        </p:txBody>
      </p:sp>
      <p:sp>
        <p:nvSpPr>
          <p:cNvPr id="25" name="Shape 23"/>
          <p:cNvSpPr/>
          <p:nvPr/>
        </p:nvSpPr>
        <p:spPr>
          <a:xfrm>
            <a:off x="365760" y="3840480"/>
            <a:ext cx="411480" cy="347472"/>
          </a:xfrm>
          <a:prstGeom prst="rect">
            <a:avLst>
              <a:gd name="adj" fmla="val 13158"/>
            </a:avLst>
          </a:prstGeom>
          <a:solidFill>
            <a:srgbClr val="1B5E20"/>
          </a:solidFill>
          <a:ln/>
        </p:spPr>
      </p:sp>
      <p:sp>
        <p:nvSpPr>
          <p:cNvPr id="26" name="Text 24"/>
          <p:cNvSpPr/>
          <p:nvPr/>
        </p:nvSpPr>
        <p:spPr>
          <a:xfrm>
            <a:off x="365760" y="384048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27" name="Text 25"/>
          <p:cNvSpPr/>
          <p:nvPr/>
        </p:nvSpPr>
        <p:spPr>
          <a:xfrm>
            <a:off x="914400" y="387705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Data Flow Diagram (Level 0 &amp; Level 1)</a:t>
            </a:r>
            <a:endParaRPr lang="en-US" sz="1300" dirty="0"/>
          </a:p>
        </p:txBody>
      </p:sp>
      <p:sp>
        <p:nvSpPr>
          <p:cNvPr id="28" name="Shape 26"/>
          <p:cNvSpPr/>
          <p:nvPr/>
        </p:nvSpPr>
        <p:spPr>
          <a:xfrm>
            <a:off x="365760" y="4343400"/>
            <a:ext cx="411480" cy="347472"/>
          </a:xfrm>
          <a:prstGeom prst="rect">
            <a:avLst>
              <a:gd name="adj" fmla="val 13158"/>
            </a:avLst>
          </a:prstGeom>
          <a:solidFill>
            <a:srgbClr val="1B5E20"/>
          </a:solidFill>
          <a:ln/>
        </p:spPr>
      </p:sp>
      <p:sp>
        <p:nvSpPr>
          <p:cNvPr id="29" name="Text 27"/>
          <p:cNvSpPr/>
          <p:nvPr/>
        </p:nvSpPr>
        <p:spPr>
          <a:xfrm>
            <a:off x="365760" y="434340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30" name="Text 28"/>
          <p:cNvSpPr/>
          <p:nvPr/>
        </p:nvSpPr>
        <p:spPr>
          <a:xfrm>
            <a:off x="914400" y="4379976"/>
            <a:ext cx="347472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Methodology</a:t>
            </a:r>
            <a:endParaRPr lang="en-US" sz="1300" dirty="0"/>
          </a:p>
        </p:txBody>
      </p:sp>
      <p:sp>
        <p:nvSpPr>
          <p:cNvPr id="31" name="Shape 29"/>
          <p:cNvSpPr/>
          <p:nvPr/>
        </p:nvSpPr>
        <p:spPr>
          <a:xfrm>
            <a:off x="4754880" y="822960"/>
            <a:ext cx="411480" cy="347472"/>
          </a:xfrm>
          <a:prstGeom prst="rect">
            <a:avLst>
              <a:gd name="adj" fmla="val 13158"/>
            </a:avLst>
          </a:prstGeom>
          <a:solidFill>
            <a:srgbClr val="00695C"/>
          </a:solidFill>
          <a:ln/>
        </p:spPr>
      </p:sp>
      <p:sp>
        <p:nvSpPr>
          <p:cNvPr id="32" name="Text 30"/>
          <p:cNvSpPr/>
          <p:nvPr/>
        </p:nvSpPr>
        <p:spPr>
          <a:xfrm>
            <a:off x="4754880" y="82296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33" name="Text 31"/>
          <p:cNvSpPr/>
          <p:nvPr/>
        </p:nvSpPr>
        <p:spPr>
          <a:xfrm>
            <a:off x="5303520" y="859536"/>
            <a:ext cx="356616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Functional Requirements</a:t>
            </a:r>
            <a:endParaRPr lang="en-US" sz="1300" dirty="0"/>
          </a:p>
        </p:txBody>
      </p:sp>
      <p:sp>
        <p:nvSpPr>
          <p:cNvPr id="34" name="Shape 32"/>
          <p:cNvSpPr/>
          <p:nvPr/>
        </p:nvSpPr>
        <p:spPr>
          <a:xfrm>
            <a:off x="4754880" y="1325880"/>
            <a:ext cx="411480" cy="347472"/>
          </a:xfrm>
          <a:prstGeom prst="rect">
            <a:avLst>
              <a:gd name="adj" fmla="val 13158"/>
            </a:avLst>
          </a:prstGeom>
          <a:solidFill>
            <a:srgbClr val="00695C"/>
          </a:solidFill>
          <a:ln/>
        </p:spPr>
      </p:sp>
      <p:sp>
        <p:nvSpPr>
          <p:cNvPr id="35" name="Text 33"/>
          <p:cNvSpPr/>
          <p:nvPr/>
        </p:nvSpPr>
        <p:spPr>
          <a:xfrm>
            <a:off x="4754880" y="132588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6" name="Text 34"/>
          <p:cNvSpPr/>
          <p:nvPr/>
        </p:nvSpPr>
        <p:spPr>
          <a:xfrm>
            <a:off x="5303520" y="1362456"/>
            <a:ext cx="356616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Non-Functional Requirements</a:t>
            </a:r>
            <a:endParaRPr lang="en-US" sz="1300" dirty="0"/>
          </a:p>
        </p:txBody>
      </p:sp>
      <p:sp>
        <p:nvSpPr>
          <p:cNvPr id="37" name="Shape 35"/>
          <p:cNvSpPr/>
          <p:nvPr/>
        </p:nvSpPr>
        <p:spPr>
          <a:xfrm>
            <a:off x="4754880" y="1828800"/>
            <a:ext cx="411480" cy="347472"/>
          </a:xfrm>
          <a:prstGeom prst="rect">
            <a:avLst>
              <a:gd name="adj" fmla="val 13158"/>
            </a:avLst>
          </a:prstGeom>
          <a:solidFill>
            <a:srgbClr val="00695C"/>
          </a:solidFill>
          <a:ln/>
        </p:spPr>
      </p:sp>
      <p:sp>
        <p:nvSpPr>
          <p:cNvPr id="38" name="Text 36"/>
          <p:cNvSpPr/>
          <p:nvPr/>
        </p:nvSpPr>
        <p:spPr>
          <a:xfrm>
            <a:off x="4754880" y="182880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39" name="Text 37"/>
          <p:cNvSpPr/>
          <p:nvPr/>
        </p:nvSpPr>
        <p:spPr>
          <a:xfrm>
            <a:off x="5303520" y="1865376"/>
            <a:ext cx="356616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Hardware &amp; Software Requirements</a:t>
            </a:r>
            <a:endParaRPr lang="en-US" sz="1300" dirty="0"/>
          </a:p>
        </p:txBody>
      </p:sp>
      <p:sp>
        <p:nvSpPr>
          <p:cNvPr id="40" name="Shape 38"/>
          <p:cNvSpPr/>
          <p:nvPr/>
        </p:nvSpPr>
        <p:spPr>
          <a:xfrm>
            <a:off x="4754880" y="2331720"/>
            <a:ext cx="411480" cy="347472"/>
          </a:xfrm>
          <a:prstGeom prst="rect">
            <a:avLst>
              <a:gd name="adj" fmla="val 13158"/>
            </a:avLst>
          </a:prstGeom>
          <a:solidFill>
            <a:srgbClr val="00695C"/>
          </a:solidFill>
          <a:ln/>
        </p:spPr>
      </p:sp>
      <p:sp>
        <p:nvSpPr>
          <p:cNvPr id="41" name="Text 39"/>
          <p:cNvSpPr/>
          <p:nvPr/>
        </p:nvSpPr>
        <p:spPr>
          <a:xfrm>
            <a:off x="4754880" y="233172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42" name="Text 40"/>
          <p:cNvSpPr/>
          <p:nvPr/>
        </p:nvSpPr>
        <p:spPr>
          <a:xfrm>
            <a:off x="5303520" y="2368296"/>
            <a:ext cx="356616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Result</a:t>
            </a:r>
            <a:endParaRPr lang="en-US" sz="1300" dirty="0"/>
          </a:p>
        </p:txBody>
      </p:sp>
      <p:sp>
        <p:nvSpPr>
          <p:cNvPr id="43" name="Shape 41"/>
          <p:cNvSpPr/>
          <p:nvPr/>
        </p:nvSpPr>
        <p:spPr>
          <a:xfrm>
            <a:off x="4754880" y="2834640"/>
            <a:ext cx="411480" cy="347472"/>
          </a:xfrm>
          <a:prstGeom prst="rect">
            <a:avLst>
              <a:gd name="adj" fmla="val 13158"/>
            </a:avLst>
          </a:prstGeom>
          <a:solidFill>
            <a:srgbClr val="00695C"/>
          </a:solidFill>
          <a:ln/>
        </p:spPr>
      </p:sp>
      <p:sp>
        <p:nvSpPr>
          <p:cNvPr id="44" name="Text 42"/>
          <p:cNvSpPr/>
          <p:nvPr/>
        </p:nvSpPr>
        <p:spPr>
          <a:xfrm>
            <a:off x="4754880" y="283464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45" name="Text 43"/>
          <p:cNvSpPr/>
          <p:nvPr/>
        </p:nvSpPr>
        <p:spPr>
          <a:xfrm>
            <a:off x="5303520" y="2871216"/>
            <a:ext cx="356616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Conclusion</a:t>
            </a:r>
            <a:endParaRPr lang="en-US" sz="1300" dirty="0"/>
          </a:p>
        </p:txBody>
      </p:sp>
      <p:sp>
        <p:nvSpPr>
          <p:cNvPr id="46" name="Shape 44"/>
          <p:cNvSpPr/>
          <p:nvPr/>
        </p:nvSpPr>
        <p:spPr>
          <a:xfrm>
            <a:off x="4754880" y="3337560"/>
            <a:ext cx="411480" cy="347472"/>
          </a:xfrm>
          <a:prstGeom prst="rect">
            <a:avLst>
              <a:gd name="adj" fmla="val 13158"/>
            </a:avLst>
          </a:prstGeom>
          <a:solidFill>
            <a:srgbClr val="00695C"/>
          </a:solidFill>
          <a:ln/>
        </p:spPr>
      </p:sp>
      <p:sp>
        <p:nvSpPr>
          <p:cNvPr id="47" name="Text 45"/>
          <p:cNvSpPr/>
          <p:nvPr/>
        </p:nvSpPr>
        <p:spPr>
          <a:xfrm>
            <a:off x="4754880" y="333756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48" name="Text 46"/>
          <p:cNvSpPr/>
          <p:nvPr/>
        </p:nvSpPr>
        <p:spPr>
          <a:xfrm>
            <a:off x="5303520" y="3374136"/>
            <a:ext cx="356616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Future Scope</a:t>
            </a:r>
            <a:endParaRPr lang="en-US" sz="1300" dirty="0"/>
          </a:p>
        </p:txBody>
      </p:sp>
      <p:sp>
        <p:nvSpPr>
          <p:cNvPr id="49" name="Shape 47"/>
          <p:cNvSpPr/>
          <p:nvPr/>
        </p:nvSpPr>
        <p:spPr>
          <a:xfrm>
            <a:off x="4754880" y="3840480"/>
            <a:ext cx="411480" cy="347472"/>
          </a:xfrm>
          <a:prstGeom prst="rect">
            <a:avLst>
              <a:gd name="adj" fmla="val 13158"/>
            </a:avLst>
          </a:prstGeom>
          <a:solidFill>
            <a:srgbClr val="00695C"/>
          </a:solidFill>
          <a:ln/>
        </p:spPr>
      </p:sp>
      <p:sp>
        <p:nvSpPr>
          <p:cNvPr id="50" name="Text 48"/>
          <p:cNvSpPr/>
          <p:nvPr/>
        </p:nvSpPr>
        <p:spPr>
          <a:xfrm>
            <a:off x="4754880" y="3840480"/>
            <a:ext cx="41148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51" name="Text 49"/>
          <p:cNvSpPr/>
          <p:nvPr/>
        </p:nvSpPr>
        <p:spPr>
          <a:xfrm>
            <a:off x="5303520" y="3877056"/>
            <a:ext cx="3566160" cy="292608"/>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References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274320" y="777240"/>
            <a:ext cx="54864" cy="548640"/>
          </a:xfrm>
          <a:prstGeom prst="rect">
            <a:avLst/>
          </a:prstGeom>
          <a:solidFill>
            <a:srgbClr val="4CAF50"/>
          </a:solidFill>
          <a:ln/>
        </p:spPr>
      </p:sp>
      <p:sp>
        <p:nvSpPr>
          <p:cNvPr id="8" name="Text 6"/>
          <p:cNvSpPr/>
          <p:nvPr/>
        </p:nvSpPr>
        <p:spPr>
          <a:xfrm>
            <a:off x="502920" y="777240"/>
            <a:ext cx="8412480" cy="640080"/>
          </a:xfrm>
          <a:prstGeom prst="rect">
            <a:avLst/>
          </a:prstGeom>
          <a:noFill/>
          <a:ln/>
        </p:spPr>
        <p:txBody>
          <a:bodyPr wrap="square" rtlCol="0" anchor="ctr"/>
          <a:lstStyle/>
          <a:p>
            <a:pPr indent="0" marL="0">
              <a:buNone/>
            </a:pPr>
            <a:r>
              <a:rPr lang="en-US" sz="1350" dirty="0">
                <a:solidFill>
                  <a:srgbClr val="2D2D2D"/>
                </a:solidFill>
                <a:latin typeface="Calibri" pitchFamily="34" charset="0"/>
                <a:ea typeface="Calibri" pitchFamily="34" charset="-122"/>
                <a:cs typeface="Calibri" pitchFamily="34" charset="-120"/>
              </a:rPr>
              <a:t>Environmental issues like climate change, pollution, and resource depletion are increasing global challenges.</a:t>
            </a:r>
            <a:endParaRPr lang="en-US" sz="1350" dirty="0"/>
          </a:p>
        </p:txBody>
      </p:sp>
      <p:sp>
        <p:nvSpPr>
          <p:cNvPr id="9" name="Shape 7"/>
          <p:cNvSpPr/>
          <p:nvPr/>
        </p:nvSpPr>
        <p:spPr>
          <a:xfrm>
            <a:off x="274320" y="1581912"/>
            <a:ext cx="54864" cy="548640"/>
          </a:xfrm>
          <a:prstGeom prst="rect">
            <a:avLst/>
          </a:prstGeom>
          <a:solidFill>
            <a:srgbClr val="4CAF50"/>
          </a:solidFill>
          <a:ln/>
        </p:spPr>
      </p:sp>
      <p:sp>
        <p:nvSpPr>
          <p:cNvPr id="10" name="Text 8"/>
          <p:cNvSpPr/>
          <p:nvPr/>
        </p:nvSpPr>
        <p:spPr>
          <a:xfrm>
            <a:off x="502920" y="1581912"/>
            <a:ext cx="8412480" cy="640080"/>
          </a:xfrm>
          <a:prstGeom prst="rect">
            <a:avLst/>
          </a:prstGeom>
          <a:noFill/>
          <a:ln/>
        </p:spPr>
        <p:txBody>
          <a:bodyPr wrap="square" rtlCol="0" anchor="ctr"/>
          <a:lstStyle/>
          <a:p>
            <a:pPr indent="0" marL="0">
              <a:buNone/>
            </a:pPr>
            <a:r>
              <a:rPr lang="en-US" sz="1350" dirty="0">
                <a:solidFill>
                  <a:srgbClr val="2D2D2D"/>
                </a:solidFill>
                <a:latin typeface="Calibri" pitchFamily="34" charset="0"/>
                <a:ea typeface="Calibri" pitchFamily="34" charset="-122"/>
                <a:cs typeface="Calibri" pitchFamily="34" charset="-120"/>
              </a:rPr>
              <a:t>Early environmental education is essential to develop responsible and sustainability-oriented citizens.</a:t>
            </a:r>
            <a:endParaRPr lang="en-US" sz="1350" dirty="0"/>
          </a:p>
        </p:txBody>
      </p:sp>
      <p:sp>
        <p:nvSpPr>
          <p:cNvPr id="11" name="Shape 9"/>
          <p:cNvSpPr/>
          <p:nvPr/>
        </p:nvSpPr>
        <p:spPr>
          <a:xfrm>
            <a:off x="274320" y="2386584"/>
            <a:ext cx="54864" cy="548640"/>
          </a:xfrm>
          <a:prstGeom prst="rect">
            <a:avLst/>
          </a:prstGeom>
          <a:solidFill>
            <a:srgbClr val="4CAF50"/>
          </a:solidFill>
          <a:ln/>
        </p:spPr>
      </p:sp>
      <p:sp>
        <p:nvSpPr>
          <p:cNvPr id="12" name="Text 10"/>
          <p:cNvSpPr/>
          <p:nvPr/>
        </p:nvSpPr>
        <p:spPr>
          <a:xfrm>
            <a:off x="502920" y="2386584"/>
            <a:ext cx="8412480" cy="640080"/>
          </a:xfrm>
          <a:prstGeom prst="rect">
            <a:avLst/>
          </a:prstGeom>
          <a:noFill/>
          <a:ln/>
        </p:spPr>
        <p:txBody>
          <a:bodyPr wrap="square" rtlCol="0" anchor="ctr"/>
          <a:lstStyle/>
          <a:p>
            <a:pPr indent="0" marL="0">
              <a:buNone/>
            </a:pPr>
            <a:r>
              <a:rPr lang="en-US" sz="1350" dirty="0">
                <a:solidFill>
                  <a:srgbClr val="2D2D2D"/>
                </a:solidFill>
                <a:latin typeface="Calibri" pitchFamily="34" charset="0"/>
                <a:ea typeface="Calibri" pitchFamily="34" charset="-122"/>
                <a:cs typeface="Calibri" pitchFamily="34" charset="-120"/>
              </a:rPr>
              <a:t>Schools play a vital role in shaping students' attitudes toward environmental conservation.</a:t>
            </a:r>
            <a:endParaRPr lang="en-US" sz="1350" dirty="0"/>
          </a:p>
        </p:txBody>
      </p:sp>
      <p:sp>
        <p:nvSpPr>
          <p:cNvPr id="13" name="Shape 11"/>
          <p:cNvSpPr/>
          <p:nvPr/>
        </p:nvSpPr>
        <p:spPr>
          <a:xfrm>
            <a:off x="274320" y="3191256"/>
            <a:ext cx="54864" cy="548640"/>
          </a:xfrm>
          <a:prstGeom prst="rect">
            <a:avLst/>
          </a:prstGeom>
          <a:solidFill>
            <a:srgbClr val="4CAF50"/>
          </a:solidFill>
          <a:ln/>
        </p:spPr>
      </p:sp>
      <p:sp>
        <p:nvSpPr>
          <p:cNvPr id="14" name="Text 12"/>
          <p:cNvSpPr/>
          <p:nvPr/>
        </p:nvSpPr>
        <p:spPr>
          <a:xfrm>
            <a:off x="502920" y="3191256"/>
            <a:ext cx="8412480" cy="640080"/>
          </a:xfrm>
          <a:prstGeom prst="rect">
            <a:avLst/>
          </a:prstGeom>
          <a:noFill/>
          <a:ln/>
        </p:spPr>
        <p:txBody>
          <a:bodyPr wrap="square" rtlCol="0" anchor="ctr"/>
          <a:lstStyle/>
          <a:p>
            <a:pPr indent="0" marL="0">
              <a:buNone/>
            </a:pPr>
            <a:r>
              <a:rPr lang="en-US" sz="1350" dirty="0">
                <a:solidFill>
                  <a:srgbClr val="2D2D2D"/>
                </a:solidFill>
                <a:latin typeface="Calibri" pitchFamily="34" charset="0"/>
                <a:ea typeface="Calibri" pitchFamily="34" charset="-122"/>
                <a:cs typeface="Calibri" pitchFamily="34" charset="-120"/>
              </a:rPr>
              <a:t>Technological advancements have made digital learning platforms effective for improving student engagement.</a:t>
            </a:r>
            <a:endParaRPr lang="en-US" sz="1350" dirty="0"/>
          </a:p>
        </p:txBody>
      </p:sp>
      <p:sp>
        <p:nvSpPr>
          <p:cNvPr id="15" name="Shape 13"/>
          <p:cNvSpPr/>
          <p:nvPr/>
        </p:nvSpPr>
        <p:spPr>
          <a:xfrm>
            <a:off x="274320" y="3995928"/>
            <a:ext cx="54864" cy="548640"/>
          </a:xfrm>
          <a:prstGeom prst="rect">
            <a:avLst/>
          </a:prstGeom>
          <a:solidFill>
            <a:srgbClr val="4CAF50"/>
          </a:solidFill>
          <a:ln/>
        </p:spPr>
      </p:sp>
      <p:sp>
        <p:nvSpPr>
          <p:cNvPr id="16" name="Text 14"/>
          <p:cNvSpPr/>
          <p:nvPr/>
        </p:nvSpPr>
        <p:spPr>
          <a:xfrm>
            <a:off x="502920" y="3995928"/>
            <a:ext cx="8412480" cy="640080"/>
          </a:xfrm>
          <a:prstGeom prst="rect">
            <a:avLst/>
          </a:prstGeom>
          <a:noFill/>
          <a:ln/>
        </p:spPr>
        <p:txBody>
          <a:bodyPr wrap="square" rtlCol="0" anchor="ctr"/>
          <a:lstStyle/>
          <a:p>
            <a:pPr indent="0" marL="0">
              <a:buNone/>
            </a:pPr>
            <a:r>
              <a:rPr lang="en-US" sz="1350" dirty="0">
                <a:solidFill>
                  <a:srgbClr val="2D2D2D"/>
                </a:solidFill>
                <a:latin typeface="Calibri" pitchFamily="34" charset="0"/>
                <a:ea typeface="Calibri" pitchFamily="34" charset="-122"/>
                <a:cs typeface="Calibri" pitchFamily="34" charset="-120"/>
              </a:rPr>
              <a:t>Gamification enhances education by making learning interactive, motivating, and memorable.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457200" y="822960"/>
            <a:ext cx="8229600" cy="3200400"/>
          </a:xfrm>
          <a:prstGeom prst="rect">
            <a:avLst/>
          </a:prstGeom>
          <a:solidFill>
            <a:srgbClr val="F1F8E9"/>
          </a:solidFill>
          <a:ln/>
          <a:effectLst>
            <a:outerShdw sx="100000" sy="100000" kx="0" ky="0" algn="bl" rotWithShape="0" blurRad="101600" dist="25400" dir="16200000">
              <a:srgbClr val="000000">
                <a:alpha val="10000"/>
              </a:srgbClr>
            </a:outerShdw>
          </a:effectLst>
        </p:spPr>
      </p:sp>
      <p:sp>
        <p:nvSpPr>
          <p:cNvPr id="8" name="Shape 6"/>
          <p:cNvSpPr/>
          <p:nvPr/>
        </p:nvSpPr>
        <p:spPr>
          <a:xfrm>
            <a:off x="457200" y="822960"/>
            <a:ext cx="91440" cy="3200400"/>
          </a:xfrm>
          <a:prstGeom prst="rect">
            <a:avLst/>
          </a:prstGeom>
          <a:solidFill>
            <a:srgbClr val="1B5E20"/>
          </a:solidFill>
          <a:ln/>
        </p:spPr>
      </p:sp>
      <p:sp>
        <p:nvSpPr>
          <p:cNvPr id="9" name="Text 7"/>
          <p:cNvSpPr/>
          <p:nvPr/>
        </p:nvSpPr>
        <p:spPr>
          <a:xfrm>
            <a:off x="731520" y="914400"/>
            <a:ext cx="7772400" cy="73152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To develop a software to solve the problem of traditional, low-interactivity environmental education in schools, which leads to:</a:t>
            </a:r>
            <a:endParaRPr lang="en-US" sz="1400" dirty="0"/>
          </a:p>
        </p:txBody>
      </p:sp>
      <p:sp>
        <p:nvSpPr>
          <p:cNvPr id="10" name="Shape 8"/>
          <p:cNvSpPr/>
          <p:nvPr/>
        </p:nvSpPr>
        <p:spPr>
          <a:xfrm>
            <a:off x="822960" y="1828800"/>
            <a:ext cx="228600" cy="228600"/>
          </a:xfrm>
          <a:prstGeom prst="oval">
            <a:avLst/>
          </a:prstGeom>
          <a:solidFill>
            <a:srgbClr val="F9A825"/>
          </a:solidFill>
          <a:ln/>
        </p:spPr>
      </p:sp>
      <p:sp>
        <p:nvSpPr>
          <p:cNvPr id="11" name="Text 9"/>
          <p:cNvSpPr/>
          <p:nvPr/>
        </p:nvSpPr>
        <p:spPr>
          <a:xfrm>
            <a:off x="1188720" y="1737360"/>
            <a:ext cx="7132320" cy="457200"/>
          </a:xfrm>
          <a:prstGeom prst="rect">
            <a:avLst/>
          </a:prstGeom>
          <a:noFill/>
          <a:ln/>
        </p:spPr>
        <p:txBody>
          <a:bodyPr wrap="square" rtlCol="0" anchor="ctr"/>
          <a:lstStyle/>
          <a:p>
            <a:pPr indent="0" marL="0">
              <a:buNone/>
            </a:pPr>
            <a:r>
              <a:rPr lang="en-US" sz="1400" b="1" dirty="0">
                <a:solidFill>
                  <a:srgbClr val="00695C"/>
                </a:solidFill>
                <a:latin typeface="Calibri" pitchFamily="34" charset="0"/>
                <a:ea typeface="Calibri" pitchFamily="34" charset="-122"/>
                <a:cs typeface="Calibri" pitchFamily="34" charset="-120"/>
              </a:rPr>
              <a:t>Reduced student engagement</a:t>
            </a:r>
            <a:endParaRPr lang="en-US" sz="1400" dirty="0"/>
          </a:p>
        </p:txBody>
      </p:sp>
      <p:sp>
        <p:nvSpPr>
          <p:cNvPr id="12" name="Shape 10"/>
          <p:cNvSpPr/>
          <p:nvPr/>
        </p:nvSpPr>
        <p:spPr>
          <a:xfrm>
            <a:off x="822960" y="2468880"/>
            <a:ext cx="228600" cy="228600"/>
          </a:xfrm>
          <a:prstGeom prst="oval">
            <a:avLst/>
          </a:prstGeom>
          <a:solidFill>
            <a:srgbClr val="F9A825"/>
          </a:solidFill>
          <a:ln/>
        </p:spPr>
      </p:sp>
      <p:sp>
        <p:nvSpPr>
          <p:cNvPr id="13" name="Text 11"/>
          <p:cNvSpPr/>
          <p:nvPr/>
        </p:nvSpPr>
        <p:spPr>
          <a:xfrm>
            <a:off x="1188720" y="2377440"/>
            <a:ext cx="7132320" cy="457200"/>
          </a:xfrm>
          <a:prstGeom prst="rect">
            <a:avLst/>
          </a:prstGeom>
          <a:noFill/>
          <a:ln/>
        </p:spPr>
        <p:txBody>
          <a:bodyPr wrap="square" rtlCol="0" anchor="ctr"/>
          <a:lstStyle/>
          <a:p>
            <a:pPr indent="0" marL="0">
              <a:buNone/>
            </a:pPr>
            <a:r>
              <a:rPr lang="en-US" sz="1400" b="1" dirty="0">
                <a:solidFill>
                  <a:srgbClr val="00695C"/>
                </a:solidFill>
                <a:latin typeface="Calibri" pitchFamily="34" charset="0"/>
                <a:ea typeface="Calibri" pitchFamily="34" charset="-122"/>
                <a:cs typeface="Calibri" pitchFamily="34" charset="-120"/>
              </a:rPr>
              <a:t>Low environmental awareness</a:t>
            </a:r>
            <a:endParaRPr lang="en-US" sz="1400" dirty="0"/>
          </a:p>
        </p:txBody>
      </p:sp>
      <p:sp>
        <p:nvSpPr>
          <p:cNvPr id="14" name="Shape 12"/>
          <p:cNvSpPr/>
          <p:nvPr/>
        </p:nvSpPr>
        <p:spPr>
          <a:xfrm>
            <a:off x="822960" y="3108960"/>
            <a:ext cx="228600" cy="228600"/>
          </a:xfrm>
          <a:prstGeom prst="oval">
            <a:avLst/>
          </a:prstGeom>
          <a:solidFill>
            <a:srgbClr val="F9A825"/>
          </a:solidFill>
          <a:ln/>
        </p:spPr>
      </p:sp>
      <p:sp>
        <p:nvSpPr>
          <p:cNvPr id="15" name="Text 13"/>
          <p:cNvSpPr/>
          <p:nvPr/>
        </p:nvSpPr>
        <p:spPr>
          <a:xfrm>
            <a:off x="1188720" y="3017520"/>
            <a:ext cx="7132320" cy="457200"/>
          </a:xfrm>
          <a:prstGeom prst="rect">
            <a:avLst/>
          </a:prstGeom>
          <a:noFill/>
          <a:ln/>
        </p:spPr>
        <p:txBody>
          <a:bodyPr wrap="square" rtlCol="0" anchor="ctr"/>
          <a:lstStyle/>
          <a:p>
            <a:pPr indent="0" marL="0">
              <a:buNone/>
            </a:pPr>
            <a:r>
              <a:rPr lang="en-US" sz="1400" b="1" dirty="0">
                <a:solidFill>
                  <a:srgbClr val="00695C"/>
                </a:solidFill>
                <a:latin typeface="Calibri" pitchFamily="34" charset="0"/>
                <a:ea typeface="Calibri" pitchFamily="34" charset="-122"/>
                <a:cs typeface="Calibri" pitchFamily="34" charset="-120"/>
              </a:rPr>
              <a:t>Limited participation in sustainability practices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LITERATURE REVIEW (1/4)</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274320" y="685800"/>
            <a:ext cx="8595360" cy="548640"/>
          </a:xfrm>
          <a:prstGeom prst="rect">
            <a:avLst/>
          </a:prstGeom>
          <a:solidFill>
            <a:srgbClr val="1B5E20"/>
          </a:solidFill>
          <a:ln/>
        </p:spPr>
      </p:sp>
      <p:sp>
        <p:nvSpPr>
          <p:cNvPr id="8" name="Text 6"/>
          <p:cNvSpPr/>
          <p:nvPr/>
        </p:nvSpPr>
        <p:spPr>
          <a:xfrm>
            <a:off x="274320" y="685800"/>
            <a:ext cx="7863840" cy="54864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Gamified Learning Platforms: Transforming Student Engagement through Digital Tools</a:t>
            </a:r>
            <a:endParaRPr lang="en-US" sz="1150" dirty="0"/>
          </a:p>
        </p:txBody>
      </p:sp>
      <p:sp>
        <p:nvSpPr>
          <p:cNvPr id="9" name="Text 7"/>
          <p:cNvSpPr/>
          <p:nvPr/>
        </p:nvSpPr>
        <p:spPr>
          <a:xfrm>
            <a:off x="8138160" y="685800"/>
            <a:ext cx="731520" cy="548640"/>
          </a:xfrm>
          <a:prstGeom prst="rect">
            <a:avLst/>
          </a:prstGeom>
          <a:noFill/>
          <a:ln/>
        </p:spPr>
        <p:txBody>
          <a:bodyPr wrap="square" rtlCol="0" anchor="ctr"/>
          <a:lstStyle/>
          <a:p>
            <a:pPr algn="ctr" indent="0" marL="0">
              <a:buNone/>
            </a:pPr>
            <a:r>
              <a:rPr lang="en-US" sz="1100" b="1" dirty="0">
                <a:solidFill>
                  <a:srgbClr val="F9A825"/>
                </a:solidFill>
                <a:latin typeface="Calibri" pitchFamily="34" charset="0"/>
                <a:ea typeface="Calibri" pitchFamily="34" charset="-122"/>
                <a:cs typeface="Calibri" pitchFamily="34" charset="-120"/>
              </a:rPr>
              <a:t>Year: 2025</a:t>
            </a:r>
            <a:endParaRPr lang="en-US" sz="1100" dirty="0"/>
          </a:p>
        </p:txBody>
      </p:sp>
      <p:sp>
        <p:nvSpPr>
          <p:cNvPr id="10" name="Shape 8"/>
          <p:cNvSpPr/>
          <p:nvPr/>
        </p:nvSpPr>
        <p:spPr>
          <a:xfrm>
            <a:off x="274320" y="1371600"/>
            <a:ext cx="1097280" cy="960120"/>
          </a:xfrm>
          <a:prstGeom prst="rect">
            <a:avLst/>
          </a:prstGeom>
          <a:solidFill>
            <a:srgbClr val="00695C"/>
          </a:solidFill>
          <a:ln/>
        </p:spPr>
      </p:sp>
      <p:sp>
        <p:nvSpPr>
          <p:cNvPr id="11" name="Text 9"/>
          <p:cNvSpPr/>
          <p:nvPr/>
        </p:nvSpPr>
        <p:spPr>
          <a:xfrm>
            <a:off x="274320" y="137160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Methodology</a:t>
            </a:r>
            <a:endParaRPr lang="en-US" sz="1100" dirty="0"/>
          </a:p>
        </p:txBody>
      </p:sp>
      <p:sp>
        <p:nvSpPr>
          <p:cNvPr id="12" name="Shape 10"/>
          <p:cNvSpPr/>
          <p:nvPr/>
        </p:nvSpPr>
        <p:spPr>
          <a:xfrm>
            <a:off x="1371600" y="1371600"/>
            <a:ext cx="7406640" cy="960120"/>
          </a:xfrm>
          <a:prstGeom prst="rect">
            <a:avLst/>
          </a:prstGeom>
          <a:solidFill>
            <a:srgbClr val="F1F8E9"/>
          </a:solidFill>
          <a:ln/>
        </p:spPr>
      </p:sp>
      <p:sp>
        <p:nvSpPr>
          <p:cNvPr id="13" name="Text 11"/>
          <p:cNvSpPr/>
          <p:nvPr/>
        </p:nvSpPr>
        <p:spPr>
          <a:xfrm>
            <a:off x="1463040" y="141732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Mixed-method study using surveys, platform analytics, and case analysis. Examines use of gamified digital tools such as points, badges, leaderboards, and interactive challenges across school and higher education settings.</a:t>
            </a:r>
            <a:endParaRPr lang="en-US" sz="1150" dirty="0"/>
          </a:p>
        </p:txBody>
      </p:sp>
      <p:sp>
        <p:nvSpPr>
          <p:cNvPr id="14" name="Shape 12"/>
          <p:cNvSpPr/>
          <p:nvPr/>
        </p:nvSpPr>
        <p:spPr>
          <a:xfrm>
            <a:off x="274320" y="2468880"/>
            <a:ext cx="1097280" cy="960120"/>
          </a:xfrm>
          <a:prstGeom prst="rect">
            <a:avLst/>
          </a:prstGeom>
          <a:solidFill>
            <a:srgbClr val="2E7D32"/>
          </a:solidFill>
          <a:ln/>
        </p:spPr>
      </p:sp>
      <p:sp>
        <p:nvSpPr>
          <p:cNvPr id="15" name="Text 13"/>
          <p:cNvSpPr/>
          <p:nvPr/>
        </p:nvSpPr>
        <p:spPr>
          <a:xfrm>
            <a:off x="274320" y="246888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6" name="Shape 14"/>
          <p:cNvSpPr/>
          <p:nvPr/>
        </p:nvSpPr>
        <p:spPr>
          <a:xfrm>
            <a:off x="1371600" y="2468880"/>
            <a:ext cx="7406640" cy="960120"/>
          </a:xfrm>
          <a:prstGeom prst="rect">
            <a:avLst/>
          </a:prstGeom>
          <a:solidFill>
            <a:srgbClr val="F9FBE7"/>
          </a:solidFill>
          <a:ln/>
        </p:spPr>
      </p:sp>
      <p:sp>
        <p:nvSpPr>
          <p:cNvPr id="17" name="Text 15"/>
          <p:cNvSpPr/>
          <p:nvPr/>
        </p:nvSpPr>
        <p:spPr>
          <a:xfrm>
            <a:off x="1463040" y="251460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Gamified learning platforms significantly improve student engagement, motivation, and academic performance. Students showed higher participation and improved learning outcomes due to real-time feedback.</a:t>
            </a:r>
            <a:endParaRPr lang="en-US" sz="1150" dirty="0"/>
          </a:p>
        </p:txBody>
      </p:sp>
      <p:sp>
        <p:nvSpPr>
          <p:cNvPr id="18" name="Shape 16"/>
          <p:cNvSpPr/>
          <p:nvPr/>
        </p:nvSpPr>
        <p:spPr>
          <a:xfrm>
            <a:off x="274320" y="3566160"/>
            <a:ext cx="1097280" cy="960120"/>
          </a:xfrm>
          <a:prstGeom prst="rect">
            <a:avLst/>
          </a:prstGeom>
          <a:solidFill>
            <a:srgbClr val="B71C1C"/>
          </a:solidFill>
          <a:ln/>
        </p:spPr>
      </p:sp>
      <p:sp>
        <p:nvSpPr>
          <p:cNvPr id="19" name="Text 17"/>
          <p:cNvSpPr/>
          <p:nvPr/>
        </p:nvSpPr>
        <p:spPr>
          <a:xfrm>
            <a:off x="274320" y="356616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Limitation</a:t>
            </a:r>
            <a:endParaRPr lang="en-US" sz="1100" dirty="0"/>
          </a:p>
        </p:txBody>
      </p:sp>
      <p:sp>
        <p:nvSpPr>
          <p:cNvPr id="20" name="Shape 18"/>
          <p:cNvSpPr/>
          <p:nvPr/>
        </p:nvSpPr>
        <p:spPr>
          <a:xfrm>
            <a:off x="1371600" y="3566160"/>
            <a:ext cx="7406640" cy="960120"/>
          </a:xfrm>
          <a:prstGeom prst="rect">
            <a:avLst/>
          </a:prstGeom>
          <a:solidFill>
            <a:srgbClr val="FFEBEE"/>
          </a:solidFill>
          <a:ln/>
        </p:spPr>
      </p:sp>
      <p:sp>
        <p:nvSpPr>
          <p:cNvPr id="21" name="Text 19"/>
          <p:cNvSpPr/>
          <p:nvPr/>
        </p:nvSpPr>
        <p:spPr>
          <a:xfrm>
            <a:off x="1463040" y="361188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Over-reliance on extrinsic rewards may reduce intrinsic motivation over time. Effective results depend on thoughtful design, access to technology, and proper alignment with educational goals.</a:t>
            </a:r>
            <a:endParaRPr lang="en-US" sz="1150" dirty="0"/>
          </a:p>
        </p:txBody>
      </p:sp>
      <p:sp>
        <p:nvSpPr>
          <p:cNvPr id="22" name="Text 20">
            <a:hlinkClick r:id="rId1" tooltip=""/>
          </p:cNvPr>
          <p:cNvSpPr/>
          <p:nvPr/>
        </p:nvSpPr>
        <p:spPr>
          <a:xfrm>
            <a:off x="274320" y="4526280"/>
            <a:ext cx="2743200" cy="228600"/>
          </a:xfrm>
          <a:prstGeom prst="rect">
            <a:avLst/>
          </a:prstGeom>
          <a:noFill/>
          <a:ln/>
        </p:spPr>
        <p:txBody>
          <a:bodyPr wrap="square" rtlCol="0" anchor="ctr"/>
          <a:lstStyle/>
          <a:p>
            <a:pPr indent="0" marL="0">
              <a:buNone/>
            </a:pPr>
            <a:r>
              <a:rPr lang="en-US" sz="950" u="sng" dirty="0">
                <a:solidFill>
                  <a:srgbClr val="1565C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Click to open paper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LITERATURE REVIEW (2/4)</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274320" y="685800"/>
            <a:ext cx="8595360" cy="548640"/>
          </a:xfrm>
          <a:prstGeom prst="rect">
            <a:avLst/>
          </a:prstGeom>
          <a:solidFill>
            <a:srgbClr val="1B5E20"/>
          </a:solidFill>
          <a:ln/>
        </p:spPr>
      </p:sp>
      <p:sp>
        <p:nvSpPr>
          <p:cNvPr id="8" name="Text 6"/>
          <p:cNvSpPr/>
          <p:nvPr/>
        </p:nvSpPr>
        <p:spPr>
          <a:xfrm>
            <a:off x="274320" y="685800"/>
            <a:ext cx="7863840" cy="54864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Online Environmental Gamification and University Students' Pro-Environmental Organizational Citizenship Behaviour</a:t>
            </a:r>
            <a:endParaRPr lang="en-US" sz="1150" dirty="0"/>
          </a:p>
        </p:txBody>
      </p:sp>
      <p:sp>
        <p:nvSpPr>
          <p:cNvPr id="9" name="Text 7"/>
          <p:cNvSpPr/>
          <p:nvPr/>
        </p:nvSpPr>
        <p:spPr>
          <a:xfrm>
            <a:off x="8138160" y="685800"/>
            <a:ext cx="731520" cy="548640"/>
          </a:xfrm>
          <a:prstGeom prst="rect">
            <a:avLst/>
          </a:prstGeom>
          <a:noFill/>
          <a:ln/>
        </p:spPr>
        <p:txBody>
          <a:bodyPr wrap="square" rtlCol="0" anchor="ctr"/>
          <a:lstStyle/>
          <a:p>
            <a:pPr algn="ctr" indent="0" marL="0">
              <a:buNone/>
            </a:pPr>
            <a:r>
              <a:rPr lang="en-US" sz="1100" b="1" dirty="0">
                <a:solidFill>
                  <a:srgbClr val="F9A825"/>
                </a:solidFill>
                <a:latin typeface="Calibri" pitchFamily="34" charset="0"/>
                <a:ea typeface="Calibri" pitchFamily="34" charset="-122"/>
                <a:cs typeface="Calibri" pitchFamily="34" charset="-120"/>
              </a:rPr>
              <a:t>Year: 2025</a:t>
            </a:r>
            <a:endParaRPr lang="en-US" sz="1100" dirty="0"/>
          </a:p>
        </p:txBody>
      </p:sp>
      <p:sp>
        <p:nvSpPr>
          <p:cNvPr id="10" name="Shape 8"/>
          <p:cNvSpPr/>
          <p:nvPr/>
        </p:nvSpPr>
        <p:spPr>
          <a:xfrm>
            <a:off x="274320" y="1371600"/>
            <a:ext cx="1097280" cy="960120"/>
          </a:xfrm>
          <a:prstGeom prst="rect">
            <a:avLst/>
          </a:prstGeom>
          <a:solidFill>
            <a:srgbClr val="00695C"/>
          </a:solidFill>
          <a:ln/>
        </p:spPr>
      </p:sp>
      <p:sp>
        <p:nvSpPr>
          <p:cNvPr id="11" name="Text 9"/>
          <p:cNvSpPr/>
          <p:nvPr/>
        </p:nvSpPr>
        <p:spPr>
          <a:xfrm>
            <a:off x="274320" y="137160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Methodology</a:t>
            </a:r>
            <a:endParaRPr lang="en-US" sz="1100" dirty="0"/>
          </a:p>
        </p:txBody>
      </p:sp>
      <p:sp>
        <p:nvSpPr>
          <p:cNvPr id="12" name="Shape 10"/>
          <p:cNvSpPr/>
          <p:nvPr/>
        </p:nvSpPr>
        <p:spPr>
          <a:xfrm>
            <a:off x="1371600" y="1371600"/>
            <a:ext cx="7406640" cy="960120"/>
          </a:xfrm>
          <a:prstGeom prst="rect">
            <a:avLst/>
          </a:prstGeom>
          <a:solidFill>
            <a:srgbClr val="F1F8E9"/>
          </a:solidFill>
          <a:ln/>
        </p:spPr>
      </p:sp>
      <p:sp>
        <p:nvSpPr>
          <p:cNvPr id="13" name="Text 11"/>
          <p:cNvSpPr/>
          <p:nvPr/>
        </p:nvSpPr>
        <p:spPr>
          <a:xfrm>
            <a:off x="1463040" y="141732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Survey-based study using online environmental gamification platforms (e.g., Ant Forest). Data collected from university students and analysed using regression and mediation analysis based on CAPS theory.</a:t>
            </a:r>
            <a:endParaRPr lang="en-US" sz="1150" dirty="0"/>
          </a:p>
        </p:txBody>
      </p:sp>
      <p:sp>
        <p:nvSpPr>
          <p:cNvPr id="14" name="Shape 12"/>
          <p:cNvSpPr/>
          <p:nvPr/>
        </p:nvSpPr>
        <p:spPr>
          <a:xfrm>
            <a:off x="274320" y="2468880"/>
            <a:ext cx="1097280" cy="960120"/>
          </a:xfrm>
          <a:prstGeom prst="rect">
            <a:avLst/>
          </a:prstGeom>
          <a:solidFill>
            <a:srgbClr val="2E7D32"/>
          </a:solidFill>
          <a:ln/>
        </p:spPr>
      </p:sp>
      <p:sp>
        <p:nvSpPr>
          <p:cNvPr id="15" name="Text 13"/>
          <p:cNvSpPr/>
          <p:nvPr/>
        </p:nvSpPr>
        <p:spPr>
          <a:xfrm>
            <a:off x="274320" y="246888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6" name="Shape 14"/>
          <p:cNvSpPr/>
          <p:nvPr/>
        </p:nvSpPr>
        <p:spPr>
          <a:xfrm>
            <a:off x="1371600" y="2468880"/>
            <a:ext cx="7406640" cy="960120"/>
          </a:xfrm>
          <a:prstGeom prst="rect">
            <a:avLst/>
          </a:prstGeom>
          <a:solidFill>
            <a:srgbClr val="F9FBE7"/>
          </a:solidFill>
          <a:ln/>
        </p:spPr>
      </p:sp>
      <p:sp>
        <p:nvSpPr>
          <p:cNvPr id="17" name="Text 15"/>
          <p:cNvSpPr/>
          <p:nvPr/>
        </p:nvSpPr>
        <p:spPr>
          <a:xfrm>
            <a:off x="1463040" y="251460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Online environmental gamification significantly increases students' pro-environmental behaviour. Environmental responsibility and environmental passion act as mediators in promoting sustainable actions.</a:t>
            </a:r>
            <a:endParaRPr lang="en-US" sz="1150" dirty="0"/>
          </a:p>
        </p:txBody>
      </p:sp>
      <p:sp>
        <p:nvSpPr>
          <p:cNvPr id="18" name="Shape 16"/>
          <p:cNvSpPr/>
          <p:nvPr/>
        </p:nvSpPr>
        <p:spPr>
          <a:xfrm>
            <a:off x="274320" y="3566160"/>
            <a:ext cx="1097280" cy="960120"/>
          </a:xfrm>
          <a:prstGeom prst="rect">
            <a:avLst/>
          </a:prstGeom>
          <a:solidFill>
            <a:srgbClr val="B71C1C"/>
          </a:solidFill>
          <a:ln/>
        </p:spPr>
      </p:sp>
      <p:sp>
        <p:nvSpPr>
          <p:cNvPr id="19" name="Text 17"/>
          <p:cNvSpPr/>
          <p:nvPr/>
        </p:nvSpPr>
        <p:spPr>
          <a:xfrm>
            <a:off x="274320" y="356616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Limitation</a:t>
            </a:r>
            <a:endParaRPr lang="en-US" sz="1100" dirty="0"/>
          </a:p>
        </p:txBody>
      </p:sp>
      <p:sp>
        <p:nvSpPr>
          <p:cNvPr id="20" name="Shape 18"/>
          <p:cNvSpPr/>
          <p:nvPr/>
        </p:nvSpPr>
        <p:spPr>
          <a:xfrm>
            <a:off x="1371600" y="3566160"/>
            <a:ext cx="7406640" cy="960120"/>
          </a:xfrm>
          <a:prstGeom prst="rect">
            <a:avLst/>
          </a:prstGeom>
          <a:solidFill>
            <a:srgbClr val="FFEBEE"/>
          </a:solidFill>
          <a:ln/>
        </p:spPr>
      </p:sp>
      <p:sp>
        <p:nvSpPr>
          <p:cNvPr id="21" name="Text 19"/>
          <p:cNvSpPr/>
          <p:nvPr/>
        </p:nvSpPr>
        <p:spPr>
          <a:xfrm>
            <a:off x="1463040" y="361188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Study focused only on university students and relied on self-reported survey data. Results may not generalize to school-level education or younger students.</a:t>
            </a:r>
            <a:endParaRPr lang="en-US" sz="1150" dirty="0"/>
          </a:p>
        </p:txBody>
      </p:sp>
      <p:sp>
        <p:nvSpPr>
          <p:cNvPr id="22" name="Text 20">
            <a:hlinkClick r:id="rId1" tooltip=""/>
          </p:cNvPr>
          <p:cNvSpPr/>
          <p:nvPr/>
        </p:nvSpPr>
        <p:spPr>
          <a:xfrm>
            <a:off x="274320" y="4526280"/>
            <a:ext cx="2743200" cy="228600"/>
          </a:xfrm>
          <a:prstGeom prst="rect">
            <a:avLst/>
          </a:prstGeom>
          <a:noFill/>
          <a:ln/>
        </p:spPr>
        <p:txBody>
          <a:bodyPr wrap="square" rtlCol="0" anchor="ctr"/>
          <a:lstStyle/>
          <a:p>
            <a:pPr indent="0" marL="0">
              <a:buNone/>
            </a:pPr>
            <a:r>
              <a:rPr lang="en-US" sz="950" u="sng" dirty="0">
                <a:solidFill>
                  <a:srgbClr val="1565C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Click to open paper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LITERATURE REVIEW (3/4)</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274320" y="685800"/>
            <a:ext cx="8595360" cy="548640"/>
          </a:xfrm>
          <a:prstGeom prst="rect">
            <a:avLst/>
          </a:prstGeom>
          <a:solidFill>
            <a:srgbClr val="1B5E20"/>
          </a:solidFill>
          <a:ln/>
        </p:spPr>
      </p:sp>
      <p:sp>
        <p:nvSpPr>
          <p:cNvPr id="8" name="Text 6"/>
          <p:cNvSpPr/>
          <p:nvPr/>
        </p:nvSpPr>
        <p:spPr>
          <a:xfrm>
            <a:off x="274320" y="685800"/>
            <a:ext cx="7863840" cy="54864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Gamification of Sustainability Communication: Engaging Audiences Through Interactive Platforms</a:t>
            </a:r>
            <a:endParaRPr lang="en-US" sz="1150" dirty="0"/>
          </a:p>
        </p:txBody>
      </p:sp>
      <p:sp>
        <p:nvSpPr>
          <p:cNvPr id="9" name="Text 7"/>
          <p:cNvSpPr/>
          <p:nvPr/>
        </p:nvSpPr>
        <p:spPr>
          <a:xfrm>
            <a:off x="8138160" y="685800"/>
            <a:ext cx="731520" cy="548640"/>
          </a:xfrm>
          <a:prstGeom prst="rect">
            <a:avLst/>
          </a:prstGeom>
          <a:noFill/>
          <a:ln/>
        </p:spPr>
        <p:txBody>
          <a:bodyPr wrap="square" rtlCol="0" anchor="ctr"/>
          <a:lstStyle/>
          <a:p>
            <a:pPr algn="ctr" indent="0" marL="0">
              <a:buNone/>
            </a:pPr>
            <a:r>
              <a:rPr lang="en-US" sz="1100" b="1" dirty="0">
                <a:solidFill>
                  <a:srgbClr val="F9A825"/>
                </a:solidFill>
                <a:latin typeface="Calibri" pitchFamily="34" charset="0"/>
                <a:ea typeface="Calibri" pitchFamily="34" charset="-122"/>
                <a:cs typeface="Calibri" pitchFamily="34" charset="-120"/>
              </a:rPr>
              <a:t>Year: 2020</a:t>
            </a:r>
            <a:endParaRPr lang="en-US" sz="1100" dirty="0"/>
          </a:p>
        </p:txBody>
      </p:sp>
      <p:sp>
        <p:nvSpPr>
          <p:cNvPr id="10" name="Shape 8"/>
          <p:cNvSpPr/>
          <p:nvPr/>
        </p:nvSpPr>
        <p:spPr>
          <a:xfrm>
            <a:off x="274320" y="1371600"/>
            <a:ext cx="1097280" cy="960120"/>
          </a:xfrm>
          <a:prstGeom prst="rect">
            <a:avLst/>
          </a:prstGeom>
          <a:solidFill>
            <a:srgbClr val="00695C"/>
          </a:solidFill>
          <a:ln/>
        </p:spPr>
      </p:sp>
      <p:sp>
        <p:nvSpPr>
          <p:cNvPr id="11" name="Text 9"/>
          <p:cNvSpPr/>
          <p:nvPr/>
        </p:nvSpPr>
        <p:spPr>
          <a:xfrm>
            <a:off x="274320" y="137160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Methodology</a:t>
            </a:r>
            <a:endParaRPr lang="en-US" sz="1100" dirty="0"/>
          </a:p>
        </p:txBody>
      </p:sp>
      <p:sp>
        <p:nvSpPr>
          <p:cNvPr id="12" name="Shape 10"/>
          <p:cNvSpPr/>
          <p:nvPr/>
        </p:nvSpPr>
        <p:spPr>
          <a:xfrm>
            <a:off x="1371600" y="1371600"/>
            <a:ext cx="7406640" cy="960120"/>
          </a:xfrm>
          <a:prstGeom prst="rect">
            <a:avLst/>
          </a:prstGeom>
          <a:solidFill>
            <a:srgbClr val="F1F8E9"/>
          </a:solidFill>
          <a:ln/>
        </p:spPr>
      </p:sp>
      <p:sp>
        <p:nvSpPr>
          <p:cNvPr id="13" name="Text 11"/>
          <p:cNvSpPr/>
          <p:nvPr/>
        </p:nvSpPr>
        <p:spPr>
          <a:xfrm>
            <a:off x="1463040" y="141732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Mixed-method approach using case studies, surveys, and qualitative analysis. Examines gamified sustainability platforms using game elements such as points, badges, leaderboards, and interactive quizzes.</a:t>
            </a:r>
            <a:endParaRPr lang="en-US" sz="1150" dirty="0"/>
          </a:p>
        </p:txBody>
      </p:sp>
      <p:sp>
        <p:nvSpPr>
          <p:cNvPr id="14" name="Shape 12"/>
          <p:cNvSpPr/>
          <p:nvPr/>
        </p:nvSpPr>
        <p:spPr>
          <a:xfrm>
            <a:off x="274320" y="2468880"/>
            <a:ext cx="1097280" cy="960120"/>
          </a:xfrm>
          <a:prstGeom prst="rect">
            <a:avLst/>
          </a:prstGeom>
          <a:solidFill>
            <a:srgbClr val="2E7D32"/>
          </a:solidFill>
          <a:ln/>
        </p:spPr>
      </p:sp>
      <p:sp>
        <p:nvSpPr>
          <p:cNvPr id="15" name="Text 13"/>
          <p:cNvSpPr/>
          <p:nvPr/>
        </p:nvSpPr>
        <p:spPr>
          <a:xfrm>
            <a:off x="274320" y="246888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6" name="Shape 14"/>
          <p:cNvSpPr/>
          <p:nvPr/>
        </p:nvSpPr>
        <p:spPr>
          <a:xfrm>
            <a:off x="1371600" y="2468880"/>
            <a:ext cx="7406640" cy="960120"/>
          </a:xfrm>
          <a:prstGeom prst="rect">
            <a:avLst/>
          </a:prstGeom>
          <a:solidFill>
            <a:srgbClr val="F9FBE7"/>
          </a:solidFill>
          <a:ln/>
        </p:spPr>
      </p:sp>
      <p:sp>
        <p:nvSpPr>
          <p:cNvPr id="17" name="Text 15"/>
          <p:cNvSpPr/>
          <p:nvPr/>
        </p:nvSpPr>
        <p:spPr>
          <a:xfrm>
            <a:off x="1463040" y="251460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Gamification improves audience engagement, knowledge retention, and motivation toward sustainable practices. Interactive features and feedback increase participation compared to traditional methods.</a:t>
            </a:r>
            <a:endParaRPr lang="en-US" sz="1150" dirty="0"/>
          </a:p>
        </p:txBody>
      </p:sp>
      <p:sp>
        <p:nvSpPr>
          <p:cNvPr id="18" name="Shape 16"/>
          <p:cNvSpPr/>
          <p:nvPr/>
        </p:nvSpPr>
        <p:spPr>
          <a:xfrm>
            <a:off x="274320" y="3566160"/>
            <a:ext cx="1097280" cy="960120"/>
          </a:xfrm>
          <a:prstGeom prst="rect">
            <a:avLst/>
          </a:prstGeom>
          <a:solidFill>
            <a:srgbClr val="B71C1C"/>
          </a:solidFill>
          <a:ln/>
        </p:spPr>
      </p:sp>
      <p:sp>
        <p:nvSpPr>
          <p:cNvPr id="19" name="Text 17"/>
          <p:cNvSpPr/>
          <p:nvPr/>
        </p:nvSpPr>
        <p:spPr>
          <a:xfrm>
            <a:off x="274320" y="356616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Limitation</a:t>
            </a:r>
            <a:endParaRPr lang="en-US" sz="1100" dirty="0"/>
          </a:p>
        </p:txBody>
      </p:sp>
      <p:sp>
        <p:nvSpPr>
          <p:cNvPr id="20" name="Shape 18"/>
          <p:cNvSpPr/>
          <p:nvPr/>
        </p:nvSpPr>
        <p:spPr>
          <a:xfrm>
            <a:off x="1371600" y="3566160"/>
            <a:ext cx="7406640" cy="960120"/>
          </a:xfrm>
          <a:prstGeom prst="rect">
            <a:avLst/>
          </a:prstGeom>
          <a:solidFill>
            <a:srgbClr val="FFEBEE"/>
          </a:solidFill>
          <a:ln/>
        </p:spPr>
      </p:sp>
      <p:sp>
        <p:nvSpPr>
          <p:cNvPr id="21" name="Text 19"/>
          <p:cNvSpPr/>
          <p:nvPr/>
        </p:nvSpPr>
        <p:spPr>
          <a:xfrm>
            <a:off x="1463040" y="361188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Study focuses mainly on communication and awareness rather than structured learning outcomes. Does not specifically address school-level implementation or curriculum-based educational platforms.</a:t>
            </a:r>
            <a:endParaRPr lang="en-US" sz="1150" dirty="0"/>
          </a:p>
        </p:txBody>
      </p:sp>
      <p:sp>
        <p:nvSpPr>
          <p:cNvPr id="22" name="Text 20">
            <a:hlinkClick r:id="rId1" tooltip=""/>
          </p:cNvPr>
          <p:cNvSpPr/>
          <p:nvPr/>
        </p:nvSpPr>
        <p:spPr>
          <a:xfrm>
            <a:off x="274320" y="4526280"/>
            <a:ext cx="2743200" cy="228600"/>
          </a:xfrm>
          <a:prstGeom prst="rect">
            <a:avLst/>
          </a:prstGeom>
          <a:noFill/>
          <a:ln/>
        </p:spPr>
        <p:txBody>
          <a:bodyPr wrap="square" rtlCol="0" anchor="ctr"/>
          <a:lstStyle/>
          <a:p>
            <a:pPr indent="0" marL="0">
              <a:buNone/>
            </a:pPr>
            <a:r>
              <a:rPr lang="en-US" sz="950" u="sng" dirty="0">
                <a:solidFill>
                  <a:srgbClr val="1565C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Click to open paper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LITERATURE REVIEW (4/4)</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274320" y="685800"/>
            <a:ext cx="8595360" cy="548640"/>
          </a:xfrm>
          <a:prstGeom prst="rect">
            <a:avLst/>
          </a:prstGeom>
          <a:solidFill>
            <a:srgbClr val="1B5E20"/>
          </a:solidFill>
          <a:ln/>
        </p:spPr>
      </p:sp>
      <p:sp>
        <p:nvSpPr>
          <p:cNvPr id="8" name="Text 6"/>
          <p:cNvSpPr/>
          <p:nvPr/>
        </p:nvSpPr>
        <p:spPr>
          <a:xfrm>
            <a:off x="274320" y="685800"/>
            <a:ext cx="7863840" cy="54864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Game with Impact: Gamification in Environmental Education and Entrepreneurship</a:t>
            </a:r>
            <a:endParaRPr lang="en-US" sz="1150" dirty="0"/>
          </a:p>
        </p:txBody>
      </p:sp>
      <p:sp>
        <p:nvSpPr>
          <p:cNvPr id="9" name="Text 7"/>
          <p:cNvSpPr/>
          <p:nvPr/>
        </p:nvSpPr>
        <p:spPr>
          <a:xfrm>
            <a:off x="8138160" y="685800"/>
            <a:ext cx="731520" cy="548640"/>
          </a:xfrm>
          <a:prstGeom prst="rect">
            <a:avLst/>
          </a:prstGeom>
          <a:noFill/>
          <a:ln/>
        </p:spPr>
        <p:txBody>
          <a:bodyPr wrap="square" rtlCol="0" anchor="ctr"/>
          <a:lstStyle/>
          <a:p>
            <a:pPr algn="ctr" indent="0" marL="0">
              <a:buNone/>
            </a:pPr>
            <a:r>
              <a:rPr lang="en-US" sz="1100" b="1" dirty="0">
                <a:solidFill>
                  <a:srgbClr val="F9A825"/>
                </a:solidFill>
                <a:latin typeface="Calibri" pitchFamily="34" charset="0"/>
                <a:ea typeface="Calibri" pitchFamily="34" charset="-122"/>
                <a:cs typeface="Calibri" pitchFamily="34" charset="-120"/>
              </a:rPr>
              <a:t>Year: 2015</a:t>
            </a:r>
            <a:endParaRPr lang="en-US" sz="1100" dirty="0"/>
          </a:p>
        </p:txBody>
      </p:sp>
      <p:sp>
        <p:nvSpPr>
          <p:cNvPr id="10" name="Shape 8"/>
          <p:cNvSpPr/>
          <p:nvPr/>
        </p:nvSpPr>
        <p:spPr>
          <a:xfrm>
            <a:off x="274320" y="1371600"/>
            <a:ext cx="1097280" cy="960120"/>
          </a:xfrm>
          <a:prstGeom prst="rect">
            <a:avLst/>
          </a:prstGeom>
          <a:solidFill>
            <a:srgbClr val="00695C"/>
          </a:solidFill>
          <a:ln/>
        </p:spPr>
      </p:sp>
      <p:sp>
        <p:nvSpPr>
          <p:cNvPr id="11" name="Text 9"/>
          <p:cNvSpPr/>
          <p:nvPr/>
        </p:nvSpPr>
        <p:spPr>
          <a:xfrm>
            <a:off x="274320" y="137160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Methodology</a:t>
            </a:r>
            <a:endParaRPr lang="en-US" sz="1100" dirty="0"/>
          </a:p>
        </p:txBody>
      </p:sp>
      <p:sp>
        <p:nvSpPr>
          <p:cNvPr id="12" name="Shape 10"/>
          <p:cNvSpPr/>
          <p:nvPr/>
        </p:nvSpPr>
        <p:spPr>
          <a:xfrm>
            <a:off x="1371600" y="1371600"/>
            <a:ext cx="7406640" cy="960120"/>
          </a:xfrm>
          <a:prstGeom prst="rect">
            <a:avLst/>
          </a:prstGeom>
          <a:solidFill>
            <a:srgbClr val="F1F8E9"/>
          </a:solidFill>
          <a:ln/>
        </p:spPr>
      </p:sp>
      <p:sp>
        <p:nvSpPr>
          <p:cNvPr id="13" name="Text 11"/>
          <p:cNvSpPr/>
          <p:nvPr/>
        </p:nvSpPr>
        <p:spPr>
          <a:xfrm>
            <a:off x="1463040" y="141732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Case study-based research conducted by the Moldovan Environmental Governance Academy (MEGA). Analyzes gamified environmental education projects (G.R.E.E.N. and Game with Impact) using game elements such as missions, levels, rewards, and collaborative challenges.</a:t>
            </a:r>
            <a:endParaRPr lang="en-US" sz="1150" dirty="0"/>
          </a:p>
        </p:txBody>
      </p:sp>
      <p:sp>
        <p:nvSpPr>
          <p:cNvPr id="14" name="Shape 12"/>
          <p:cNvSpPr/>
          <p:nvPr/>
        </p:nvSpPr>
        <p:spPr>
          <a:xfrm>
            <a:off x="274320" y="2468880"/>
            <a:ext cx="1097280" cy="960120"/>
          </a:xfrm>
          <a:prstGeom prst="rect">
            <a:avLst/>
          </a:prstGeom>
          <a:solidFill>
            <a:srgbClr val="2E7D32"/>
          </a:solidFill>
          <a:ln/>
        </p:spPr>
      </p:sp>
      <p:sp>
        <p:nvSpPr>
          <p:cNvPr id="15" name="Text 13"/>
          <p:cNvSpPr/>
          <p:nvPr/>
        </p:nvSpPr>
        <p:spPr>
          <a:xfrm>
            <a:off x="274320" y="246888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p>
        </p:txBody>
      </p:sp>
      <p:sp>
        <p:nvSpPr>
          <p:cNvPr id="16" name="Shape 14"/>
          <p:cNvSpPr/>
          <p:nvPr/>
        </p:nvSpPr>
        <p:spPr>
          <a:xfrm>
            <a:off x="1371600" y="2468880"/>
            <a:ext cx="7406640" cy="960120"/>
          </a:xfrm>
          <a:prstGeom prst="rect">
            <a:avLst/>
          </a:prstGeom>
          <a:solidFill>
            <a:srgbClr val="F9FBE7"/>
          </a:solidFill>
          <a:ln/>
        </p:spPr>
      </p:sp>
      <p:sp>
        <p:nvSpPr>
          <p:cNvPr id="17" name="Text 15"/>
          <p:cNvSpPr/>
          <p:nvPr/>
        </p:nvSpPr>
        <p:spPr>
          <a:xfrm>
            <a:off x="1463040" y="251460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Gamification significantly increased youth engagement, participation, and practical involvement in environmental activities. Participants showed improved environmental awareness, leadership skills, and motivation.</a:t>
            </a:r>
            <a:endParaRPr lang="en-US" sz="1150" dirty="0"/>
          </a:p>
        </p:txBody>
      </p:sp>
      <p:sp>
        <p:nvSpPr>
          <p:cNvPr id="18" name="Shape 16"/>
          <p:cNvSpPr/>
          <p:nvPr/>
        </p:nvSpPr>
        <p:spPr>
          <a:xfrm>
            <a:off x="274320" y="3566160"/>
            <a:ext cx="1097280" cy="960120"/>
          </a:xfrm>
          <a:prstGeom prst="rect">
            <a:avLst/>
          </a:prstGeom>
          <a:solidFill>
            <a:srgbClr val="B71C1C"/>
          </a:solidFill>
          <a:ln/>
        </p:spPr>
      </p:sp>
      <p:sp>
        <p:nvSpPr>
          <p:cNvPr id="19" name="Text 17"/>
          <p:cNvSpPr/>
          <p:nvPr/>
        </p:nvSpPr>
        <p:spPr>
          <a:xfrm>
            <a:off x="274320" y="3566160"/>
            <a:ext cx="109728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Limitation</a:t>
            </a:r>
            <a:endParaRPr lang="en-US" sz="1100" dirty="0"/>
          </a:p>
        </p:txBody>
      </p:sp>
      <p:sp>
        <p:nvSpPr>
          <p:cNvPr id="20" name="Shape 18"/>
          <p:cNvSpPr/>
          <p:nvPr/>
        </p:nvSpPr>
        <p:spPr>
          <a:xfrm>
            <a:off x="1371600" y="3566160"/>
            <a:ext cx="7406640" cy="960120"/>
          </a:xfrm>
          <a:prstGeom prst="rect">
            <a:avLst/>
          </a:prstGeom>
          <a:solidFill>
            <a:srgbClr val="FFEBEE"/>
          </a:solidFill>
          <a:ln/>
        </p:spPr>
      </p:sp>
      <p:sp>
        <p:nvSpPr>
          <p:cNvPr id="21" name="Text 19"/>
          <p:cNvSpPr/>
          <p:nvPr/>
        </p:nvSpPr>
        <p:spPr>
          <a:xfrm>
            <a:off x="1463040" y="3611880"/>
            <a:ext cx="7223760" cy="868680"/>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Study is limited to specific regional case studies and small participant groups. Long-term behavior change and scalability of gamified education platforms require further research.</a:t>
            </a:r>
            <a:endParaRPr lang="en-US" sz="1150" dirty="0"/>
          </a:p>
        </p:txBody>
      </p:sp>
      <p:sp>
        <p:nvSpPr>
          <p:cNvPr id="22" name="Text 20">
            <a:hlinkClick r:id="rId1" tooltip=""/>
          </p:cNvPr>
          <p:cNvSpPr/>
          <p:nvPr/>
        </p:nvSpPr>
        <p:spPr>
          <a:xfrm>
            <a:off x="274320" y="4526280"/>
            <a:ext cx="2743200" cy="228600"/>
          </a:xfrm>
          <a:prstGeom prst="rect">
            <a:avLst/>
          </a:prstGeom>
          <a:noFill/>
          <a:ln/>
        </p:spPr>
        <p:txBody>
          <a:bodyPr wrap="square" rtlCol="0" anchor="ctr"/>
          <a:lstStyle/>
          <a:p>
            <a:pPr indent="0" marL="0">
              <a:buNone/>
            </a:pPr>
            <a:r>
              <a:rPr lang="en-US" sz="950" u="sng" dirty="0">
                <a:solidFill>
                  <a:srgbClr val="1565C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Click to open paper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PROPOSED SOLUTION</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365760" y="731520"/>
            <a:ext cx="8412480" cy="640080"/>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A Gamified Environmental Educational Platform using videos, quizzes, and interactive games to educate students and motivate eco-friendly behavior.</a:t>
            </a:r>
            <a:endParaRPr lang="en-US" sz="1300" dirty="0"/>
          </a:p>
        </p:txBody>
      </p:sp>
      <p:sp>
        <p:nvSpPr>
          <p:cNvPr id="8" name="Shape 6"/>
          <p:cNvSpPr/>
          <p:nvPr/>
        </p:nvSpPr>
        <p:spPr>
          <a:xfrm>
            <a:off x="274320" y="1508760"/>
            <a:ext cx="2011680" cy="3200400"/>
          </a:xfrm>
          <a:prstGeom prst="rect">
            <a:avLst/>
          </a:prstGeom>
          <a:solidFill>
            <a:srgbClr val="1B5E20"/>
          </a:solidFill>
          <a:ln/>
          <a:effectLst>
            <a:outerShdw sx="100000" sy="100000" kx="0" ky="0" algn="bl" rotWithShape="0" blurRad="76200" dist="25400" dir="16200000">
              <a:srgbClr val="000000">
                <a:alpha val="15000"/>
              </a:srgbClr>
            </a:outerShdw>
          </a:effectLst>
        </p:spPr>
      </p:sp>
      <p:sp>
        <p:nvSpPr>
          <p:cNvPr id="9" name="Text 7"/>
          <p:cNvSpPr/>
          <p:nvPr/>
        </p:nvSpPr>
        <p:spPr>
          <a:xfrm>
            <a:off x="274320" y="160020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274320" y="2240280"/>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Educational Games</a:t>
            </a:r>
            <a:endParaRPr lang="en-US" sz="1200" dirty="0"/>
          </a:p>
        </p:txBody>
      </p:sp>
      <p:sp>
        <p:nvSpPr>
          <p:cNvPr id="11" name="Shape 9"/>
          <p:cNvSpPr/>
          <p:nvPr/>
        </p:nvSpPr>
        <p:spPr>
          <a:xfrm>
            <a:off x="457200" y="2743200"/>
            <a:ext cx="1645920" cy="27432"/>
          </a:xfrm>
          <a:prstGeom prst="rect">
            <a:avLst/>
          </a:prstGeom>
          <a:solidFill>
            <a:srgbClr val="FFFFFF"/>
          </a:solidFill>
          <a:ln/>
        </p:spPr>
      </p:sp>
      <p:sp>
        <p:nvSpPr>
          <p:cNvPr id="12" name="Text 10"/>
          <p:cNvSpPr/>
          <p:nvPr/>
        </p:nvSpPr>
        <p:spPr>
          <a:xfrm>
            <a:off x="365760" y="2834640"/>
            <a:ext cx="1828800" cy="1645920"/>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Interactive games reinforce environmental learning concepts in a fun way.</a:t>
            </a:r>
            <a:endParaRPr lang="en-US" sz="1100" dirty="0"/>
          </a:p>
        </p:txBody>
      </p:sp>
      <p:sp>
        <p:nvSpPr>
          <p:cNvPr id="13" name="Shape 11"/>
          <p:cNvSpPr/>
          <p:nvPr/>
        </p:nvSpPr>
        <p:spPr>
          <a:xfrm>
            <a:off x="2450592" y="1508760"/>
            <a:ext cx="2011680" cy="3200400"/>
          </a:xfrm>
          <a:prstGeom prst="rect">
            <a:avLst/>
          </a:prstGeom>
          <a:solidFill>
            <a:srgbClr val="00695C"/>
          </a:solidFill>
          <a:ln/>
          <a:effectLst>
            <a:outerShdw sx="100000" sy="100000" kx="0" ky="0" algn="bl" rotWithShape="0" blurRad="76200" dist="25400" dir="16200000">
              <a:srgbClr val="000000">
                <a:alpha val="15000"/>
              </a:srgbClr>
            </a:outerShdw>
          </a:effectLst>
        </p:spPr>
      </p:sp>
      <p:sp>
        <p:nvSpPr>
          <p:cNvPr id="14" name="Text 12"/>
          <p:cNvSpPr/>
          <p:nvPr/>
        </p:nvSpPr>
        <p:spPr>
          <a:xfrm>
            <a:off x="2450592" y="160020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2450592" y="2240280"/>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Video Learning</a:t>
            </a:r>
            <a:endParaRPr lang="en-US" sz="1200" dirty="0"/>
          </a:p>
        </p:txBody>
      </p:sp>
      <p:sp>
        <p:nvSpPr>
          <p:cNvPr id="16" name="Shape 14"/>
          <p:cNvSpPr/>
          <p:nvPr/>
        </p:nvSpPr>
        <p:spPr>
          <a:xfrm>
            <a:off x="2633472" y="2743200"/>
            <a:ext cx="1645920" cy="27432"/>
          </a:xfrm>
          <a:prstGeom prst="rect">
            <a:avLst/>
          </a:prstGeom>
          <a:solidFill>
            <a:srgbClr val="FFFFFF"/>
          </a:solidFill>
          <a:ln/>
        </p:spPr>
      </p:sp>
      <p:sp>
        <p:nvSpPr>
          <p:cNvPr id="17" name="Text 15"/>
          <p:cNvSpPr/>
          <p:nvPr/>
        </p:nvSpPr>
        <p:spPr>
          <a:xfrm>
            <a:off x="2542032" y="2834640"/>
            <a:ext cx="1828800" cy="1645920"/>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Short educational videos on topics like Global Warming, Pollution, Biodiversity.</a:t>
            </a:r>
            <a:endParaRPr lang="en-US" sz="1100" dirty="0"/>
          </a:p>
        </p:txBody>
      </p:sp>
      <p:sp>
        <p:nvSpPr>
          <p:cNvPr id="18" name="Shape 16"/>
          <p:cNvSpPr/>
          <p:nvPr/>
        </p:nvSpPr>
        <p:spPr>
          <a:xfrm>
            <a:off x="4626864" y="1508760"/>
            <a:ext cx="2011680" cy="3200400"/>
          </a:xfrm>
          <a:prstGeom prst="rect">
            <a:avLst/>
          </a:prstGeom>
          <a:solidFill>
            <a:srgbClr val="1565C0"/>
          </a:solidFill>
          <a:ln/>
          <a:effectLst>
            <a:outerShdw sx="100000" sy="100000" kx="0" ky="0" algn="bl" rotWithShape="0" blurRad="76200" dist="25400" dir="16200000">
              <a:srgbClr val="000000">
                <a:alpha val="15000"/>
              </a:srgbClr>
            </a:outerShdw>
          </a:effectLst>
        </p:spPr>
      </p:sp>
      <p:sp>
        <p:nvSpPr>
          <p:cNvPr id="19" name="Text 17"/>
          <p:cNvSpPr/>
          <p:nvPr/>
        </p:nvSpPr>
        <p:spPr>
          <a:xfrm>
            <a:off x="4626864" y="160020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0" name="Text 18"/>
          <p:cNvSpPr/>
          <p:nvPr/>
        </p:nvSpPr>
        <p:spPr>
          <a:xfrm>
            <a:off x="4626864" y="2240280"/>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Quizzes</a:t>
            </a:r>
            <a:endParaRPr lang="en-US" sz="1200" dirty="0"/>
          </a:p>
        </p:txBody>
      </p:sp>
      <p:sp>
        <p:nvSpPr>
          <p:cNvPr id="21" name="Shape 19"/>
          <p:cNvSpPr/>
          <p:nvPr/>
        </p:nvSpPr>
        <p:spPr>
          <a:xfrm>
            <a:off x="4809744" y="2743200"/>
            <a:ext cx="1645920" cy="27432"/>
          </a:xfrm>
          <a:prstGeom prst="rect">
            <a:avLst/>
          </a:prstGeom>
          <a:solidFill>
            <a:srgbClr val="FFFFFF"/>
          </a:solidFill>
          <a:ln/>
        </p:spPr>
      </p:sp>
      <p:sp>
        <p:nvSpPr>
          <p:cNvPr id="22" name="Text 20"/>
          <p:cNvSpPr/>
          <p:nvPr/>
        </p:nvSpPr>
        <p:spPr>
          <a:xfrm>
            <a:off x="4718304" y="2834640"/>
            <a:ext cx="1828800" cy="1645920"/>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MCQ-based quizzes based on video content with instant feedback and scoring.</a:t>
            </a:r>
            <a:endParaRPr lang="en-US" sz="1100" dirty="0"/>
          </a:p>
        </p:txBody>
      </p:sp>
      <p:sp>
        <p:nvSpPr>
          <p:cNvPr id="23" name="Shape 21"/>
          <p:cNvSpPr/>
          <p:nvPr/>
        </p:nvSpPr>
        <p:spPr>
          <a:xfrm>
            <a:off x="6803136" y="1508760"/>
            <a:ext cx="2011680" cy="3200400"/>
          </a:xfrm>
          <a:prstGeom prst="rect">
            <a:avLst/>
          </a:prstGeom>
          <a:solidFill>
            <a:srgbClr val="6A1B9A"/>
          </a:solidFill>
          <a:ln/>
          <a:effectLst>
            <a:outerShdw sx="100000" sy="100000" kx="0" ky="0" algn="bl" rotWithShape="0" blurRad="76200" dist="25400" dir="16200000">
              <a:srgbClr val="000000">
                <a:alpha val="15000"/>
              </a:srgbClr>
            </a:outerShdw>
          </a:effectLst>
        </p:spPr>
      </p:sp>
      <p:sp>
        <p:nvSpPr>
          <p:cNvPr id="24" name="Text 22"/>
          <p:cNvSpPr/>
          <p:nvPr/>
        </p:nvSpPr>
        <p:spPr>
          <a:xfrm>
            <a:off x="6803136" y="160020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5" name="Text 23"/>
          <p:cNvSpPr/>
          <p:nvPr/>
        </p:nvSpPr>
        <p:spPr>
          <a:xfrm>
            <a:off x="6803136" y="2240280"/>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Rewards &amp; Progress</a:t>
            </a:r>
            <a:endParaRPr lang="en-US" sz="1200" dirty="0"/>
          </a:p>
        </p:txBody>
      </p:sp>
      <p:sp>
        <p:nvSpPr>
          <p:cNvPr id="26" name="Shape 24"/>
          <p:cNvSpPr/>
          <p:nvPr/>
        </p:nvSpPr>
        <p:spPr>
          <a:xfrm>
            <a:off x="6986016" y="2743200"/>
            <a:ext cx="1645920" cy="27432"/>
          </a:xfrm>
          <a:prstGeom prst="rect">
            <a:avLst/>
          </a:prstGeom>
          <a:solidFill>
            <a:srgbClr val="FFFFFF"/>
          </a:solidFill>
          <a:ln/>
        </p:spPr>
      </p:sp>
      <p:sp>
        <p:nvSpPr>
          <p:cNvPr id="27" name="Text 25"/>
          <p:cNvSpPr/>
          <p:nvPr/>
        </p:nvSpPr>
        <p:spPr>
          <a:xfrm>
            <a:off x="6894576" y="2834640"/>
            <a:ext cx="1828800" cy="1645920"/>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Points, badges, leaderboards, and missions to boost engagement.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SYSTEM ARCHITECTURE</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10</a:t>
            </a:r>
            <a:endParaRPr lang="en-US" sz="900" dirty="0"/>
          </a:p>
        </p:txBody>
      </p:sp>
      <p:pic>
        <p:nvPicPr>
          <p:cNvPr id="7" name="Image 0" descr="/mnt/user-data/uploads/1772982388334_image.png">    </p:cNvPr>
          <p:cNvPicPr>
            <a:picLocks noChangeAspect="1"/>
          </p:cNvPicPr>
          <p:nvPr/>
        </p:nvPicPr>
        <p:blipFill>
          <a:blip r:embed="rId1"/>
          <a:srcRect l="0" r="0" t="0" b="0"/>
          <a:stretch/>
        </p:blipFill>
        <p:spPr>
          <a:xfrm>
            <a:off x="1097280" y="685800"/>
            <a:ext cx="6949440" cy="4114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USE CASE DIAGRAM</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11</a:t>
            </a:r>
            <a:endParaRPr lang="en-US" sz="900" dirty="0"/>
          </a:p>
        </p:txBody>
      </p:sp>
      <p:pic>
        <p:nvPicPr>
          <p:cNvPr id="7" name="Image 0" descr="/mnt/user-data/uploads/1772982573072_image.png">    </p:cNvPr>
          <p:cNvPicPr>
            <a:picLocks noChangeAspect="1"/>
          </p:cNvPicPr>
          <p:nvPr/>
        </p:nvPicPr>
        <p:blipFill>
          <a:blip r:embed="rId1"/>
          <a:srcRect l="0" r="0" t="0" b="0"/>
          <a:stretch/>
        </p:blipFill>
        <p:spPr>
          <a:xfrm>
            <a:off x="2011680" y="685800"/>
            <a:ext cx="512064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FLOW DIAGRAM — LEVEL 0</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365760" y="685800"/>
            <a:ext cx="8412480" cy="411480"/>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Context Diagram showing the top-level data flow between User and the EnviroLearn system.</a:t>
            </a:r>
            <a:endParaRPr lang="en-US" sz="1200" dirty="0"/>
          </a:p>
        </p:txBody>
      </p:sp>
      <p:pic>
        <p:nvPicPr>
          <p:cNvPr id="8" name="Image 0" descr="/mnt/user-data/uploads/1772982434564_image.png">    </p:cNvPr>
          <p:cNvPicPr>
            <a:picLocks noChangeAspect="1"/>
          </p:cNvPicPr>
          <p:nvPr/>
        </p:nvPicPr>
        <p:blipFill>
          <a:blip r:embed="rId1"/>
          <a:srcRect l="0" r="0" t="0" b="0"/>
          <a:stretch/>
        </p:blipFill>
        <p:spPr>
          <a:xfrm>
            <a:off x="914400" y="1143000"/>
            <a:ext cx="7315200" cy="3474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FLOW DIAGRAM — LEVEL 1</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365760" y="685800"/>
            <a:ext cx="8412480" cy="411480"/>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Detailed data flow across all modules including Authentication, Quiz, Games, Challenges, Progress Tracking, and Teacher Reports.</a:t>
            </a:r>
            <a:endParaRPr lang="en-US" sz="1200" dirty="0"/>
          </a:p>
        </p:txBody>
      </p:sp>
      <p:pic>
        <p:nvPicPr>
          <p:cNvPr id="8" name="Image 0" descr="/mnt/user-data/uploads/1772982473336_image.png">    </p:cNvPr>
          <p:cNvPicPr>
            <a:picLocks noChangeAspect="1"/>
          </p:cNvPicPr>
          <p:nvPr/>
        </p:nvPicPr>
        <p:blipFill>
          <a:blip r:embed="rId1"/>
          <a:srcRect l="0" r="0" t="0" b="0"/>
          <a:stretch/>
        </p:blipFill>
        <p:spPr>
          <a:xfrm>
            <a:off x="1371600" y="1143000"/>
            <a:ext cx="6400800" cy="3566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METHODOLOGY</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14</a:t>
            </a:r>
            <a:endParaRPr lang="en-US" sz="900" dirty="0"/>
          </a:p>
        </p:txBody>
      </p:sp>
      <p:sp>
        <p:nvSpPr>
          <p:cNvPr id="7" name="Text 5"/>
          <p:cNvSpPr/>
          <p:nvPr/>
        </p:nvSpPr>
        <p:spPr>
          <a:xfrm>
            <a:off x="365760" y="713232"/>
            <a:ext cx="8412480" cy="365760"/>
          </a:xfrm>
          <a:prstGeom prst="rect">
            <a:avLst/>
          </a:prstGeom>
          <a:noFill/>
          <a:ln/>
        </p:spPr>
        <p:txBody>
          <a:bodyPr wrap="square" rtlCol="0" anchor="ctr"/>
          <a:lstStyle/>
          <a:p>
            <a:pPr indent="0" marL="0">
              <a:buNone/>
            </a:pPr>
            <a:r>
              <a:rPr lang="en-US" sz="1500" b="1" dirty="0">
                <a:solidFill>
                  <a:srgbClr val="1B5E20"/>
                </a:solidFill>
                <a:latin typeface="Calibri" pitchFamily="34" charset="0"/>
                <a:ea typeface="Calibri" pitchFamily="34" charset="-122"/>
                <a:cs typeface="Calibri" pitchFamily="34" charset="-120"/>
              </a:rPr>
              <a:t>Agile Iterative Development Model</a:t>
            </a:r>
            <a:endParaRPr lang="en-US" sz="1500" dirty="0"/>
          </a:p>
        </p:txBody>
      </p:sp>
      <p:sp>
        <p:nvSpPr>
          <p:cNvPr id="8" name="Shape 6"/>
          <p:cNvSpPr/>
          <p:nvPr/>
        </p:nvSpPr>
        <p:spPr>
          <a:xfrm>
            <a:off x="274320" y="1188720"/>
            <a:ext cx="411480" cy="411480"/>
          </a:xfrm>
          <a:prstGeom prst="rect">
            <a:avLst/>
          </a:prstGeom>
          <a:solidFill>
            <a:srgbClr val="1B5E20"/>
          </a:solidFill>
          <a:ln/>
        </p:spPr>
      </p:sp>
      <p:sp>
        <p:nvSpPr>
          <p:cNvPr id="9" name="Text 7"/>
          <p:cNvSpPr/>
          <p:nvPr/>
        </p:nvSpPr>
        <p:spPr>
          <a:xfrm>
            <a:off x="274320" y="11887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777240" y="1188720"/>
            <a:ext cx="38404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Requirement Analysis</a:t>
            </a:r>
            <a:endParaRPr lang="en-US" sz="1200" dirty="0"/>
          </a:p>
        </p:txBody>
      </p:sp>
      <p:sp>
        <p:nvSpPr>
          <p:cNvPr id="11" name="Text 9"/>
          <p:cNvSpPr/>
          <p:nvPr/>
        </p:nvSpPr>
        <p:spPr>
          <a:xfrm>
            <a:off x="777240" y="1463040"/>
            <a:ext cx="3840480" cy="7772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Identified key user needs, environmental topics, gamification goals, and system scope through discussions and literature review.</a:t>
            </a:r>
            <a:endParaRPr lang="en-US" sz="1050" dirty="0"/>
          </a:p>
        </p:txBody>
      </p:sp>
      <p:sp>
        <p:nvSpPr>
          <p:cNvPr id="12" name="Shape 10"/>
          <p:cNvSpPr/>
          <p:nvPr/>
        </p:nvSpPr>
        <p:spPr>
          <a:xfrm>
            <a:off x="274320" y="2377440"/>
            <a:ext cx="411480" cy="411480"/>
          </a:xfrm>
          <a:prstGeom prst="rect">
            <a:avLst/>
          </a:prstGeom>
          <a:solidFill>
            <a:srgbClr val="1B5E20"/>
          </a:solidFill>
          <a:ln/>
        </p:spPr>
      </p:sp>
      <p:sp>
        <p:nvSpPr>
          <p:cNvPr id="13" name="Text 11"/>
          <p:cNvSpPr/>
          <p:nvPr/>
        </p:nvSpPr>
        <p:spPr>
          <a:xfrm>
            <a:off x="274320" y="23774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777240" y="2377440"/>
            <a:ext cx="38404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System Design</a:t>
            </a:r>
            <a:endParaRPr lang="en-US" sz="1200" dirty="0"/>
          </a:p>
        </p:txBody>
      </p:sp>
      <p:sp>
        <p:nvSpPr>
          <p:cNvPr id="15" name="Text 13"/>
          <p:cNvSpPr/>
          <p:nvPr/>
        </p:nvSpPr>
        <p:spPr>
          <a:xfrm>
            <a:off x="777240" y="2651760"/>
            <a:ext cx="3840480" cy="7772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Designed system architecture, DFD, use case diagrams, and UI wireframes for the student and teacher roles.</a:t>
            </a:r>
            <a:endParaRPr lang="en-US" sz="1050" dirty="0"/>
          </a:p>
        </p:txBody>
      </p:sp>
      <p:sp>
        <p:nvSpPr>
          <p:cNvPr id="16" name="Shape 14"/>
          <p:cNvSpPr/>
          <p:nvPr/>
        </p:nvSpPr>
        <p:spPr>
          <a:xfrm>
            <a:off x="274320" y="3566160"/>
            <a:ext cx="411480" cy="411480"/>
          </a:xfrm>
          <a:prstGeom prst="rect">
            <a:avLst/>
          </a:prstGeom>
          <a:solidFill>
            <a:srgbClr val="1B5E20"/>
          </a:solidFill>
          <a:ln/>
        </p:spPr>
      </p:sp>
      <p:sp>
        <p:nvSpPr>
          <p:cNvPr id="17" name="Text 15"/>
          <p:cNvSpPr/>
          <p:nvPr/>
        </p:nvSpPr>
        <p:spPr>
          <a:xfrm>
            <a:off x="274320" y="35661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777240" y="3566160"/>
            <a:ext cx="38404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Frontend Development</a:t>
            </a:r>
            <a:endParaRPr lang="en-US" sz="1200" dirty="0"/>
          </a:p>
        </p:txBody>
      </p:sp>
      <p:sp>
        <p:nvSpPr>
          <p:cNvPr id="19" name="Text 17"/>
          <p:cNvSpPr/>
          <p:nvPr/>
        </p:nvSpPr>
        <p:spPr>
          <a:xfrm>
            <a:off x="777240" y="3840480"/>
            <a:ext cx="3840480" cy="7772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Built responsive UI using HTML, CSS, and JavaScript with nature-themed design suitable for school students.</a:t>
            </a:r>
            <a:endParaRPr lang="en-US" sz="1050" dirty="0"/>
          </a:p>
        </p:txBody>
      </p:sp>
      <p:sp>
        <p:nvSpPr>
          <p:cNvPr id="20" name="Shape 18"/>
          <p:cNvSpPr/>
          <p:nvPr/>
        </p:nvSpPr>
        <p:spPr>
          <a:xfrm>
            <a:off x="4709160" y="1188720"/>
            <a:ext cx="411480" cy="411480"/>
          </a:xfrm>
          <a:prstGeom prst="rect">
            <a:avLst/>
          </a:prstGeom>
          <a:solidFill>
            <a:srgbClr val="00695C"/>
          </a:solidFill>
          <a:ln/>
        </p:spPr>
      </p:sp>
      <p:sp>
        <p:nvSpPr>
          <p:cNvPr id="21" name="Text 19"/>
          <p:cNvSpPr/>
          <p:nvPr/>
        </p:nvSpPr>
        <p:spPr>
          <a:xfrm>
            <a:off x="4709160" y="11887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5212080" y="1188720"/>
            <a:ext cx="38404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Backend Development</a:t>
            </a:r>
            <a:endParaRPr lang="en-US" sz="1200" dirty="0"/>
          </a:p>
        </p:txBody>
      </p:sp>
      <p:sp>
        <p:nvSpPr>
          <p:cNvPr id="23" name="Text 21"/>
          <p:cNvSpPr/>
          <p:nvPr/>
        </p:nvSpPr>
        <p:spPr>
          <a:xfrm>
            <a:off x="5212080" y="1463040"/>
            <a:ext cx="3840480" cy="7772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Developed Flask (Python) backend with SQLite database for user management, quiz scoring, and reward logic.</a:t>
            </a:r>
            <a:endParaRPr lang="en-US" sz="1050" dirty="0"/>
          </a:p>
        </p:txBody>
      </p:sp>
      <p:sp>
        <p:nvSpPr>
          <p:cNvPr id="24" name="Shape 22"/>
          <p:cNvSpPr/>
          <p:nvPr/>
        </p:nvSpPr>
        <p:spPr>
          <a:xfrm>
            <a:off x="4709160" y="2377440"/>
            <a:ext cx="411480" cy="411480"/>
          </a:xfrm>
          <a:prstGeom prst="rect">
            <a:avLst/>
          </a:prstGeom>
          <a:solidFill>
            <a:srgbClr val="00695C"/>
          </a:solidFill>
          <a:ln/>
        </p:spPr>
      </p:sp>
      <p:sp>
        <p:nvSpPr>
          <p:cNvPr id="25" name="Text 23"/>
          <p:cNvSpPr/>
          <p:nvPr/>
        </p:nvSpPr>
        <p:spPr>
          <a:xfrm>
            <a:off x="4709160" y="23774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p:nvPr/>
        </p:nvSpPr>
        <p:spPr>
          <a:xfrm>
            <a:off x="5212080" y="2377440"/>
            <a:ext cx="38404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Testing &amp; Integration</a:t>
            </a:r>
            <a:endParaRPr lang="en-US" sz="1200" dirty="0"/>
          </a:p>
        </p:txBody>
      </p:sp>
      <p:sp>
        <p:nvSpPr>
          <p:cNvPr id="27" name="Text 25"/>
          <p:cNvSpPr/>
          <p:nvPr/>
        </p:nvSpPr>
        <p:spPr>
          <a:xfrm>
            <a:off x="5212080" y="2651760"/>
            <a:ext cx="3840480" cy="7772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Conducted functional testing of all modules — login, games, quizzes, videos, challenges, and teacher dashboard.</a:t>
            </a:r>
            <a:endParaRPr lang="en-US" sz="1050" dirty="0"/>
          </a:p>
        </p:txBody>
      </p:sp>
      <p:sp>
        <p:nvSpPr>
          <p:cNvPr id="28" name="Shape 26"/>
          <p:cNvSpPr/>
          <p:nvPr/>
        </p:nvSpPr>
        <p:spPr>
          <a:xfrm>
            <a:off x="4709160" y="3566160"/>
            <a:ext cx="411480" cy="411480"/>
          </a:xfrm>
          <a:prstGeom prst="rect">
            <a:avLst/>
          </a:prstGeom>
          <a:solidFill>
            <a:srgbClr val="00695C"/>
          </a:solidFill>
          <a:ln/>
        </p:spPr>
      </p:sp>
      <p:sp>
        <p:nvSpPr>
          <p:cNvPr id="29" name="Text 27"/>
          <p:cNvSpPr/>
          <p:nvPr/>
        </p:nvSpPr>
        <p:spPr>
          <a:xfrm>
            <a:off x="4709160" y="35661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0" name="Text 28"/>
          <p:cNvSpPr/>
          <p:nvPr/>
        </p:nvSpPr>
        <p:spPr>
          <a:xfrm>
            <a:off x="5212080" y="3566160"/>
            <a:ext cx="38404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Deployment &amp; Review</a:t>
            </a:r>
            <a:endParaRPr lang="en-US" sz="1200" dirty="0"/>
          </a:p>
        </p:txBody>
      </p:sp>
      <p:sp>
        <p:nvSpPr>
          <p:cNvPr id="31" name="Text 29"/>
          <p:cNvSpPr/>
          <p:nvPr/>
        </p:nvSpPr>
        <p:spPr>
          <a:xfrm>
            <a:off x="5212080" y="3840480"/>
            <a:ext cx="3840480" cy="7772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Deployed locally and reviewed with test users. Documentation and final report submitted for evaluation.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FUNCTIONAL REQUIREMENTS</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274320" y="749808"/>
            <a:ext cx="4160520" cy="1874520"/>
          </a:xfrm>
          <a:prstGeom prst="rect">
            <a:avLst/>
          </a:prstGeom>
          <a:solidFill>
            <a:srgbClr val="F1F8E9"/>
          </a:solidFill>
          <a:ln/>
          <a:effectLst>
            <a:outerShdw sx="100000" sy="100000" kx="0" ky="0" algn="bl" rotWithShape="0" blurRad="50800" dist="12700" dir="16200000">
              <a:srgbClr val="000000">
                <a:alpha val="8000"/>
              </a:srgbClr>
            </a:outerShdw>
          </a:effectLst>
        </p:spPr>
      </p:sp>
      <p:sp>
        <p:nvSpPr>
          <p:cNvPr id="8" name="Shape 6"/>
          <p:cNvSpPr/>
          <p:nvPr/>
        </p:nvSpPr>
        <p:spPr>
          <a:xfrm>
            <a:off x="274320" y="749808"/>
            <a:ext cx="4160520" cy="347472"/>
          </a:xfrm>
          <a:prstGeom prst="rect">
            <a:avLst/>
          </a:prstGeom>
          <a:solidFill>
            <a:srgbClr val="1B5E20"/>
          </a:solidFill>
          <a:ln/>
        </p:spPr>
      </p:sp>
      <p:sp>
        <p:nvSpPr>
          <p:cNvPr id="9" name="Text 7"/>
          <p:cNvSpPr/>
          <p:nvPr/>
        </p:nvSpPr>
        <p:spPr>
          <a:xfrm>
            <a:off x="274320" y="749808"/>
            <a:ext cx="41605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User Management</a:t>
            </a:r>
            <a:endParaRPr lang="en-US" sz="1200" dirty="0"/>
          </a:p>
        </p:txBody>
      </p:sp>
      <p:sp>
        <p:nvSpPr>
          <p:cNvPr id="10" name="Text 8"/>
          <p:cNvSpPr/>
          <p:nvPr/>
        </p:nvSpPr>
        <p:spPr>
          <a:xfrm>
            <a:off x="411480" y="1161288"/>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Students and teachers can register and log in securely</a:t>
            </a:r>
            <a:endParaRPr lang="en-US" sz="1100" dirty="0"/>
          </a:p>
        </p:txBody>
      </p:sp>
      <p:sp>
        <p:nvSpPr>
          <p:cNvPr id="11" name="Text 9"/>
          <p:cNvSpPr/>
          <p:nvPr/>
        </p:nvSpPr>
        <p:spPr>
          <a:xfrm>
            <a:off x="411480" y="1636776"/>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Role-based access control (Student / Teacher)</a:t>
            </a:r>
            <a:endParaRPr lang="en-US" sz="1100" dirty="0"/>
          </a:p>
        </p:txBody>
      </p:sp>
      <p:sp>
        <p:nvSpPr>
          <p:cNvPr id="12" name="Text 10"/>
          <p:cNvSpPr/>
          <p:nvPr/>
        </p:nvSpPr>
        <p:spPr>
          <a:xfrm>
            <a:off x="411480" y="2112264"/>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Secure logout functionality</a:t>
            </a:r>
            <a:endParaRPr lang="en-US" sz="1100" dirty="0"/>
          </a:p>
        </p:txBody>
      </p:sp>
      <p:sp>
        <p:nvSpPr>
          <p:cNvPr id="13" name="Shape 11"/>
          <p:cNvSpPr/>
          <p:nvPr/>
        </p:nvSpPr>
        <p:spPr>
          <a:xfrm>
            <a:off x="4709160" y="749808"/>
            <a:ext cx="4160520" cy="1874520"/>
          </a:xfrm>
          <a:prstGeom prst="rect">
            <a:avLst/>
          </a:prstGeom>
          <a:solidFill>
            <a:srgbClr val="F1F8E9"/>
          </a:solidFill>
          <a:ln/>
          <a:effectLst>
            <a:outerShdw sx="100000" sy="100000" kx="0" ky="0" algn="bl" rotWithShape="0" blurRad="50800" dist="12700" dir="16200000">
              <a:srgbClr val="000000">
                <a:alpha val="8000"/>
              </a:srgbClr>
            </a:outerShdw>
          </a:effectLst>
        </p:spPr>
      </p:sp>
      <p:sp>
        <p:nvSpPr>
          <p:cNvPr id="14" name="Shape 12"/>
          <p:cNvSpPr/>
          <p:nvPr/>
        </p:nvSpPr>
        <p:spPr>
          <a:xfrm>
            <a:off x="4709160" y="749808"/>
            <a:ext cx="4160520" cy="347472"/>
          </a:xfrm>
          <a:prstGeom prst="rect">
            <a:avLst/>
          </a:prstGeom>
          <a:solidFill>
            <a:srgbClr val="1B5E20"/>
          </a:solidFill>
          <a:ln/>
        </p:spPr>
      </p:sp>
      <p:sp>
        <p:nvSpPr>
          <p:cNvPr id="15" name="Text 13"/>
          <p:cNvSpPr/>
          <p:nvPr/>
        </p:nvSpPr>
        <p:spPr>
          <a:xfrm>
            <a:off x="4709160" y="749808"/>
            <a:ext cx="41605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Gamification Features</a:t>
            </a:r>
            <a:endParaRPr lang="en-US" sz="1200" dirty="0"/>
          </a:p>
        </p:txBody>
      </p:sp>
      <p:sp>
        <p:nvSpPr>
          <p:cNvPr id="16" name="Text 14"/>
          <p:cNvSpPr/>
          <p:nvPr/>
        </p:nvSpPr>
        <p:spPr>
          <a:xfrm>
            <a:off x="4846320" y="1161288"/>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Award points for correct answers and task completion</a:t>
            </a:r>
            <a:endParaRPr lang="en-US" sz="1100" dirty="0"/>
          </a:p>
        </p:txBody>
      </p:sp>
      <p:sp>
        <p:nvSpPr>
          <p:cNvPr id="17" name="Text 15"/>
          <p:cNvSpPr/>
          <p:nvPr/>
        </p:nvSpPr>
        <p:spPr>
          <a:xfrm>
            <a:off x="4846320" y="1636776"/>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Assign badges and achievements based on performance</a:t>
            </a:r>
            <a:endParaRPr lang="en-US" sz="1100" dirty="0"/>
          </a:p>
        </p:txBody>
      </p:sp>
      <p:sp>
        <p:nvSpPr>
          <p:cNvPr id="18" name="Text 16"/>
          <p:cNvSpPr/>
          <p:nvPr/>
        </p:nvSpPr>
        <p:spPr>
          <a:xfrm>
            <a:off x="4846320" y="2112264"/>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Daily challenge tracking and leaderboard</a:t>
            </a:r>
            <a:endParaRPr lang="en-US" sz="1100" dirty="0"/>
          </a:p>
        </p:txBody>
      </p:sp>
      <p:sp>
        <p:nvSpPr>
          <p:cNvPr id="19" name="Shape 17"/>
          <p:cNvSpPr/>
          <p:nvPr/>
        </p:nvSpPr>
        <p:spPr>
          <a:xfrm>
            <a:off x="274320" y="2761488"/>
            <a:ext cx="4160520" cy="1874520"/>
          </a:xfrm>
          <a:prstGeom prst="rect">
            <a:avLst/>
          </a:prstGeom>
          <a:solidFill>
            <a:srgbClr val="EDE7F6"/>
          </a:solidFill>
          <a:ln/>
          <a:effectLst>
            <a:outerShdw sx="100000" sy="100000" kx="0" ky="0" algn="bl" rotWithShape="0" blurRad="50800" dist="12700" dir="16200000">
              <a:srgbClr val="000000">
                <a:alpha val="8000"/>
              </a:srgbClr>
            </a:outerShdw>
          </a:effectLst>
        </p:spPr>
      </p:sp>
      <p:sp>
        <p:nvSpPr>
          <p:cNvPr id="20" name="Shape 18"/>
          <p:cNvSpPr/>
          <p:nvPr/>
        </p:nvSpPr>
        <p:spPr>
          <a:xfrm>
            <a:off x="274320" y="2761488"/>
            <a:ext cx="4160520" cy="347472"/>
          </a:xfrm>
          <a:prstGeom prst="rect">
            <a:avLst/>
          </a:prstGeom>
          <a:solidFill>
            <a:srgbClr val="00695C"/>
          </a:solidFill>
          <a:ln/>
        </p:spPr>
      </p:sp>
      <p:sp>
        <p:nvSpPr>
          <p:cNvPr id="21" name="Text 19"/>
          <p:cNvSpPr/>
          <p:nvPr/>
        </p:nvSpPr>
        <p:spPr>
          <a:xfrm>
            <a:off x="274320" y="2761488"/>
            <a:ext cx="41605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Video-Based Learning</a:t>
            </a:r>
            <a:endParaRPr lang="en-US" sz="1200" dirty="0"/>
          </a:p>
        </p:txBody>
      </p:sp>
      <p:sp>
        <p:nvSpPr>
          <p:cNvPr id="22" name="Text 20"/>
          <p:cNvSpPr/>
          <p:nvPr/>
        </p:nvSpPr>
        <p:spPr>
          <a:xfrm>
            <a:off x="411480" y="3172968"/>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Provide environmental education video lessons</a:t>
            </a:r>
            <a:endParaRPr lang="en-US" sz="1100" dirty="0"/>
          </a:p>
        </p:txBody>
      </p:sp>
      <p:sp>
        <p:nvSpPr>
          <p:cNvPr id="23" name="Text 21"/>
          <p:cNvSpPr/>
          <p:nvPr/>
        </p:nvSpPr>
        <p:spPr>
          <a:xfrm>
            <a:off x="411480" y="3648456"/>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Ensure full video watch before proceeding</a:t>
            </a:r>
            <a:endParaRPr lang="en-US" sz="1100" dirty="0"/>
          </a:p>
        </p:txBody>
      </p:sp>
      <p:sp>
        <p:nvSpPr>
          <p:cNvPr id="24" name="Text 22"/>
          <p:cNvSpPr/>
          <p:nvPr/>
        </p:nvSpPr>
        <p:spPr>
          <a:xfrm>
            <a:off x="411480" y="4123944"/>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Present quiz after each video session</a:t>
            </a:r>
            <a:endParaRPr lang="en-US" sz="1100" dirty="0"/>
          </a:p>
        </p:txBody>
      </p:sp>
      <p:sp>
        <p:nvSpPr>
          <p:cNvPr id="25" name="Shape 23"/>
          <p:cNvSpPr/>
          <p:nvPr/>
        </p:nvSpPr>
        <p:spPr>
          <a:xfrm>
            <a:off x="4709160" y="2761488"/>
            <a:ext cx="4160520" cy="1874520"/>
          </a:xfrm>
          <a:prstGeom prst="rect">
            <a:avLst/>
          </a:prstGeom>
          <a:solidFill>
            <a:srgbClr val="EDE7F6"/>
          </a:solidFill>
          <a:ln/>
          <a:effectLst>
            <a:outerShdw sx="100000" sy="100000" kx="0" ky="0" algn="bl" rotWithShape="0" blurRad="50800" dist="12700" dir="16200000">
              <a:srgbClr val="000000">
                <a:alpha val="8000"/>
              </a:srgbClr>
            </a:outerShdw>
          </a:effectLst>
        </p:spPr>
      </p:sp>
      <p:sp>
        <p:nvSpPr>
          <p:cNvPr id="26" name="Shape 24"/>
          <p:cNvSpPr/>
          <p:nvPr/>
        </p:nvSpPr>
        <p:spPr>
          <a:xfrm>
            <a:off x="4709160" y="2761488"/>
            <a:ext cx="4160520" cy="347472"/>
          </a:xfrm>
          <a:prstGeom prst="rect">
            <a:avLst/>
          </a:prstGeom>
          <a:solidFill>
            <a:srgbClr val="00695C"/>
          </a:solidFill>
          <a:ln/>
        </p:spPr>
      </p:sp>
      <p:sp>
        <p:nvSpPr>
          <p:cNvPr id="27" name="Text 25"/>
          <p:cNvSpPr/>
          <p:nvPr/>
        </p:nvSpPr>
        <p:spPr>
          <a:xfrm>
            <a:off x="4709160" y="2761488"/>
            <a:ext cx="41605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Progress &amp; Teacher Dashboard</a:t>
            </a:r>
            <a:endParaRPr lang="en-US" sz="1200" dirty="0"/>
          </a:p>
        </p:txBody>
      </p:sp>
      <p:sp>
        <p:nvSpPr>
          <p:cNvPr id="28" name="Text 26"/>
          <p:cNvSpPr/>
          <p:nvPr/>
        </p:nvSpPr>
        <p:spPr>
          <a:xfrm>
            <a:off x="4846320" y="3172968"/>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Store and display student progress and scores</a:t>
            </a:r>
            <a:endParaRPr lang="en-US" sz="1100" dirty="0"/>
          </a:p>
        </p:txBody>
      </p:sp>
      <p:sp>
        <p:nvSpPr>
          <p:cNvPr id="29" name="Text 27"/>
          <p:cNvSpPr/>
          <p:nvPr/>
        </p:nvSpPr>
        <p:spPr>
          <a:xfrm>
            <a:off x="4846320" y="3648456"/>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Teacher can view performance reports and analytics</a:t>
            </a:r>
            <a:endParaRPr lang="en-US" sz="1100" dirty="0"/>
          </a:p>
        </p:txBody>
      </p:sp>
      <p:sp>
        <p:nvSpPr>
          <p:cNvPr id="30" name="Text 28"/>
          <p:cNvSpPr/>
          <p:nvPr/>
        </p:nvSpPr>
        <p:spPr>
          <a:xfrm>
            <a:off x="4846320" y="4123944"/>
            <a:ext cx="3840480" cy="438912"/>
          </a:xfrm>
          <a:prstGeom prst="rect">
            <a:avLst/>
          </a:prstGeom>
          <a:noFill/>
          <a:ln/>
        </p:spPr>
        <p:txBody>
          <a:bodyPr wrap="square" rtlCol="0" anchor="t"/>
          <a:lstStyle/>
          <a:p>
            <a:pPr indent="0" marL="0">
              <a:buNone/>
            </a:pPr>
            <a:r>
              <a:rPr lang="en-US" sz="1100" b="1" dirty="0">
                <a:solidFill>
                  <a:srgbClr val="2E7D32"/>
                </a:solidFill>
                <a:latin typeface="Calibri" pitchFamily="34" charset="0"/>
                <a:ea typeface="Calibri" pitchFamily="34" charset="-122"/>
                <a:cs typeface="Calibri" pitchFamily="34" charset="-120"/>
              </a:rPr>
              <a:t>✓ </a:t>
            </a:r>
            <a:pPr indent="0" marL="0">
              <a:buNone/>
            </a:pPr>
            <a:r>
              <a:rPr lang="en-US" sz="1100" dirty="0">
                <a:solidFill>
                  <a:srgbClr val="2D2D2D"/>
                </a:solidFill>
                <a:latin typeface="Calibri" pitchFamily="34" charset="0"/>
                <a:ea typeface="Calibri" pitchFamily="34" charset="-122"/>
                <a:cs typeface="Calibri" pitchFamily="34" charset="-120"/>
              </a:rPr>
              <a:t>Teachers can assign games and quizzes to students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NON-FUNCTIONAL REQUIREMENTS</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274320" y="777240"/>
            <a:ext cx="2743200" cy="1828800"/>
          </a:xfrm>
          <a:prstGeom prst="rect">
            <a:avLst/>
          </a:prstGeom>
          <a:solidFill>
            <a:srgbClr val="FFFFFF"/>
          </a:solidFill>
          <a:ln/>
          <a:effectLst>
            <a:outerShdw sx="100000" sy="100000" kx="0" ky="0" algn="bl" rotWithShape="0" blurRad="76200" dist="25400" dir="16200000">
              <a:srgbClr val="000000">
                <a:alpha val="10000"/>
              </a:srgbClr>
            </a:outerShdw>
          </a:effectLst>
        </p:spPr>
      </p:sp>
      <p:sp>
        <p:nvSpPr>
          <p:cNvPr id="8" name="Shape 6"/>
          <p:cNvSpPr/>
          <p:nvPr/>
        </p:nvSpPr>
        <p:spPr>
          <a:xfrm>
            <a:off x="274320" y="777240"/>
            <a:ext cx="2743200" cy="73152"/>
          </a:xfrm>
          <a:prstGeom prst="rect">
            <a:avLst/>
          </a:prstGeom>
          <a:solidFill>
            <a:srgbClr val="1B5E20"/>
          </a:solidFill>
          <a:ln/>
        </p:spPr>
      </p:sp>
      <p:sp>
        <p:nvSpPr>
          <p:cNvPr id="9" name="Text 7"/>
          <p:cNvSpPr/>
          <p:nvPr/>
        </p:nvSpPr>
        <p:spPr>
          <a:xfrm>
            <a:off x="274320" y="868680"/>
            <a:ext cx="274320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0" name="Text 8"/>
          <p:cNvSpPr/>
          <p:nvPr/>
        </p:nvSpPr>
        <p:spPr>
          <a:xfrm>
            <a:off x="274320" y="1435608"/>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Performance</a:t>
            </a:r>
            <a:endParaRPr lang="en-US" sz="1300" dirty="0"/>
          </a:p>
        </p:txBody>
      </p:sp>
      <p:sp>
        <p:nvSpPr>
          <p:cNvPr id="11" name="Text 9"/>
          <p:cNvSpPr/>
          <p:nvPr/>
        </p:nvSpPr>
        <p:spPr>
          <a:xfrm>
            <a:off x="411480" y="1783080"/>
            <a:ext cx="2468880" cy="777240"/>
          </a:xfrm>
          <a:prstGeom prst="rect">
            <a:avLst/>
          </a:prstGeom>
          <a:noFill/>
          <a:ln/>
        </p:spPr>
        <p:txBody>
          <a:bodyPr wrap="square" rtlCol="0" anchor="t"/>
          <a:lstStyle/>
          <a:p>
            <a:pPr algn="ctr" indent="0" marL="0">
              <a:buNone/>
            </a:pPr>
            <a:r>
              <a:rPr lang="en-US" sz="1050" dirty="0">
                <a:solidFill>
                  <a:srgbClr val="2D2D2D"/>
                </a:solidFill>
                <a:latin typeface="Calibri" pitchFamily="34" charset="0"/>
                <a:ea typeface="Calibri" pitchFamily="34" charset="-122"/>
                <a:cs typeface="Calibri" pitchFamily="34" charset="-120"/>
              </a:rPr>
              <a:t>Fast response times for all games, quizzes, and page loads to ensure smooth user experience.</a:t>
            </a:r>
            <a:endParaRPr lang="en-US" sz="1050" dirty="0"/>
          </a:p>
        </p:txBody>
      </p:sp>
      <p:sp>
        <p:nvSpPr>
          <p:cNvPr id="12" name="Shape 10"/>
          <p:cNvSpPr/>
          <p:nvPr/>
        </p:nvSpPr>
        <p:spPr>
          <a:xfrm>
            <a:off x="3200400" y="777240"/>
            <a:ext cx="2743200" cy="1828800"/>
          </a:xfrm>
          <a:prstGeom prst="rect">
            <a:avLst/>
          </a:prstGeom>
          <a:solidFill>
            <a:srgbClr val="FFFFFF"/>
          </a:solidFill>
          <a:ln/>
          <a:effectLst>
            <a:outerShdw sx="100000" sy="100000" kx="0" ky="0" algn="bl" rotWithShape="0" blurRad="76200" dist="25400" dir="16200000">
              <a:srgbClr val="000000">
                <a:alpha val="10000"/>
              </a:srgbClr>
            </a:outerShdw>
          </a:effectLst>
        </p:spPr>
      </p:sp>
      <p:sp>
        <p:nvSpPr>
          <p:cNvPr id="13" name="Shape 11"/>
          <p:cNvSpPr/>
          <p:nvPr/>
        </p:nvSpPr>
        <p:spPr>
          <a:xfrm>
            <a:off x="3200400" y="777240"/>
            <a:ext cx="2743200" cy="73152"/>
          </a:xfrm>
          <a:prstGeom prst="rect">
            <a:avLst/>
          </a:prstGeom>
          <a:solidFill>
            <a:srgbClr val="1B5E20"/>
          </a:solidFill>
          <a:ln/>
        </p:spPr>
      </p:sp>
      <p:sp>
        <p:nvSpPr>
          <p:cNvPr id="14" name="Text 12"/>
          <p:cNvSpPr/>
          <p:nvPr/>
        </p:nvSpPr>
        <p:spPr>
          <a:xfrm>
            <a:off x="3200400" y="868680"/>
            <a:ext cx="274320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3200400" y="1435608"/>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Security</a:t>
            </a:r>
            <a:endParaRPr lang="en-US" sz="1300" dirty="0"/>
          </a:p>
        </p:txBody>
      </p:sp>
      <p:sp>
        <p:nvSpPr>
          <p:cNvPr id="16" name="Text 14"/>
          <p:cNvSpPr/>
          <p:nvPr/>
        </p:nvSpPr>
        <p:spPr>
          <a:xfrm>
            <a:off x="3337560" y="1783080"/>
            <a:ext cx="2468880" cy="777240"/>
          </a:xfrm>
          <a:prstGeom prst="rect">
            <a:avLst/>
          </a:prstGeom>
          <a:noFill/>
          <a:ln/>
        </p:spPr>
        <p:txBody>
          <a:bodyPr wrap="square" rtlCol="0" anchor="t"/>
          <a:lstStyle/>
          <a:p>
            <a:pPr algn="ctr" indent="0" marL="0">
              <a:buNone/>
            </a:pPr>
            <a:r>
              <a:rPr lang="en-US" sz="1050" dirty="0">
                <a:solidFill>
                  <a:srgbClr val="2D2D2D"/>
                </a:solidFill>
                <a:latin typeface="Calibri" pitchFamily="34" charset="0"/>
                <a:ea typeface="Calibri" pitchFamily="34" charset="-122"/>
                <a:cs typeface="Calibri" pitchFamily="34" charset="-120"/>
              </a:rPr>
              <a:t>Secure user authentication, password hashing, and protection of student data.</a:t>
            </a:r>
            <a:endParaRPr lang="en-US" sz="1050" dirty="0"/>
          </a:p>
        </p:txBody>
      </p:sp>
      <p:sp>
        <p:nvSpPr>
          <p:cNvPr id="17" name="Shape 15"/>
          <p:cNvSpPr/>
          <p:nvPr/>
        </p:nvSpPr>
        <p:spPr>
          <a:xfrm>
            <a:off x="6126480" y="777240"/>
            <a:ext cx="2743200" cy="1828800"/>
          </a:xfrm>
          <a:prstGeom prst="rect">
            <a:avLst/>
          </a:prstGeom>
          <a:solidFill>
            <a:srgbClr val="FFFFFF"/>
          </a:solidFill>
          <a:ln/>
          <a:effectLst>
            <a:outerShdw sx="100000" sy="100000" kx="0" ky="0" algn="bl" rotWithShape="0" blurRad="76200" dist="25400" dir="16200000">
              <a:srgbClr val="000000">
                <a:alpha val="10000"/>
              </a:srgbClr>
            </a:outerShdw>
          </a:effectLst>
        </p:spPr>
      </p:sp>
      <p:sp>
        <p:nvSpPr>
          <p:cNvPr id="18" name="Shape 16"/>
          <p:cNvSpPr/>
          <p:nvPr/>
        </p:nvSpPr>
        <p:spPr>
          <a:xfrm>
            <a:off x="6126480" y="777240"/>
            <a:ext cx="2743200" cy="73152"/>
          </a:xfrm>
          <a:prstGeom prst="rect">
            <a:avLst/>
          </a:prstGeom>
          <a:solidFill>
            <a:srgbClr val="1B5E20"/>
          </a:solidFill>
          <a:ln/>
        </p:spPr>
      </p:sp>
      <p:sp>
        <p:nvSpPr>
          <p:cNvPr id="19" name="Text 17"/>
          <p:cNvSpPr/>
          <p:nvPr/>
        </p:nvSpPr>
        <p:spPr>
          <a:xfrm>
            <a:off x="6126480" y="868680"/>
            <a:ext cx="274320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6126480" y="1435608"/>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Scalability</a:t>
            </a:r>
            <a:endParaRPr lang="en-US" sz="1300" dirty="0"/>
          </a:p>
        </p:txBody>
      </p:sp>
      <p:sp>
        <p:nvSpPr>
          <p:cNvPr id="21" name="Text 19"/>
          <p:cNvSpPr/>
          <p:nvPr/>
        </p:nvSpPr>
        <p:spPr>
          <a:xfrm>
            <a:off x="6263640" y="1783080"/>
            <a:ext cx="2468880" cy="777240"/>
          </a:xfrm>
          <a:prstGeom prst="rect">
            <a:avLst/>
          </a:prstGeom>
          <a:noFill/>
          <a:ln/>
        </p:spPr>
        <p:txBody>
          <a:bodyPr wrap="square" rtlCol="0" anchor="t"/>
          <a:lstStyle/>
          <a:p>
            <a:pPr algn="ctr" indent="0" marL="0">
              <a:buNone/>
            </a:pPr>
            <a:r>
              <a:rPr lang="en-US" sz="1050" dirty="0">
                <a:solidFill>
                  <a:srgbClr val="2D2D2D"/>
                </a:solidFill>
                <a:latin typeface="Calibri" pitchFamily="34" charset="0"/>
                <a:ea typeface="Calibri" pitchFamily="34" charset="-122"/>
                <a:cs typeface="Calibri" pitchFamily="34" charset="-120"/>
              </a:rPr>
              <a:t>System supports increasing number of users, modules, and content without degradation.</a:t>
            </a:r>
            <a:endParaRPr lang="en-US" sz="1050" dirty="0"/>
          </a:p>
        </p:txBody>
      </p:sp>
      <p:sp>
        <p:nvSpPr>
          <p:cNvPr id="22" name="Shape 20"/>
          <p:cNvSpPr/>
          <p:nvPr/>
        </p:nvSpPr>
        <p:spPr>
          <a:xfrm>
            <a:off x="274320" y="2743200"/>
            <a:ext cx="2743200" cy="1828800"/>
          </a:xfrm>
          <a:prstGeom prst="rect">
            <a:avLst/>
          </a:prstGeom>
          <a:solidFill>
            <a:srgbClr val="FFFFFF"/>
          </a:solidFill>
          <a:ln/>
          <a:effectLst>
            <a:outerShdw sx="100000" sy="100000" kx="0" ky="0" algn="bl" rotWithShape="0" blurRad="76200" dist="25400" dir="16200000">
              <a:srgbClr val="000000">
                <a:alpha val="10000"/>
              </a:srgbClr>
            </a:outerShdw>
          </a:effectLst>
        </p:spPr>
      </p:sp>
      <p:sp>
        <p:nvSpPr>
          <p:cNvPr id="23" name="Shape 21"/>
          <p:cNvSpPr/>
          <p:nvPr/>
        </p:nvSpPr>
        <p:spPr>
          <a:xfrm>
            <a:off x="274320" y="2743200"/>
            <a:ext cx="2743200" cy="73152"/>
          </a:xfrm>
          <a:prstGeom prst="rect">
            <a:avLst/>
          </a:prstGeom>
          <a:solidFill>
            <a:srgbClr val="1B5E20"/>
          </a:solidFill>
          <a:ln/>
        </p:spPr>
      </p:sp>
      <p:sp>
        <p:nvSpPr>
          <p:cNvPr id="24" name="Text 22"/>
          <p:cNvSpPr/>
          <p:nvPr/>
        </p:nvSpPr>
        <p:spPr>
          <a:xfrm>
            <a:off x="274320" y="2834640"/>
            <a:ext cx="274320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274320" y="3401568"/>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Reliability</a:t>
            </a:r>
            <a:endParaRPr lang="en-US" sz="1300" dirty="0"/>
          </a:p>
        </p:txBody>
      </p:sp>
      <p:sp>
        <p:nvSpPr>
          <p:cNvPr id="26" name="Text 24"/>
          <p:cNvSpPr/>
          <p:nvPr/>
        </p:nvSpPr>
        <p:spPr>
          <a:xfrm>
            <a:off x="411480" y="3749040"/>
            <a:ext cx="2468880" cy="777240"/>
          </a:xfrm>
          <a:prstGeom prst="rect">
            <a:avLst/>
          </a:prstGeom>
          <a:noFill/>
          <a:ln/>
        </p:spPr>
        <p:txBody>
          <a:bodyPr wrap="square" rtlCol="0" anchor="t"/>
          <a:lstStyle/>
          <a:p>
            <a:pPr algn="ctr" indent="0" marL="0">
              <a:buNone/>
            </a:pPr>
            <a:r>
              <a:rPr lang="en-US" sz="1050" dirty="0">
                <a:solidFill>
                  <a:srgbClr val="2D2D2D"/>
                </a:solidFill>
                <a:latin typeface="Calibri" pitchFamily="34" charset="0"/>
                <a:ea typeface="Calibri" pitchFamily="34" charset="-122"/>
                <a:cs typeface="Calibri" pitchFamily="34" charset="-120"/>
              </a:rPr>
              <a:t>Stable operation with data backup support and graceful error handling.</a:t>
            </a:r>
            <a:endParaRPr lang="en-US" sz="1050" dirty="0"/>
          </a:p>
        </p:txBody>
      </p:sp>
      <p:sp>
        <p:nvSpPr>
          <p:cNvPr id="27" name="Shape 25"/>
          <p:cNvSpPr/>
          <p:nvPr/>
        </p:nvSpPr>
        <p:spPr>
          <a:xfrm>
            <a:off x="3200400" y="2743200"/>
            <a:ext cx="2743200" cy="1828800"/>
          </a:xfrm>
          <a:prstGeom prst="rect">
            <a:avLst/>
          </a:prstGeom>
          <a:solidFill>
            <a:srgbClr val="FFFFFF"/>
          </a:solidFill>
          <a:ln/>
          <a:effectLst>
            <a:outerShdw sx="100000" sy="100000" kx="0" ky="0" algn="bl" rotWithShape="0" blurRad="76200" dist="25400" dir="16200000">
              <a:srgbClr val="000000">
                <a:alpha val="10000"/>
              </a:srgbClr>
            </a:outerShdw>
          </a:effectLst>
        </p:spPr>
      </p:sp>
      <p:sp>
        <p:nvSpPr>
          <p:cNvPr id="28" name="Shape 26"/>
          <p:cNvSpPr/>
          <p:nvPr/>
        </p:nvSpPr>
        <p:spPr>
          <a:xfrm>
            <a:off x="3200400" y="2743200"/>
            <a:ext cx="2743200" cy="73152"/>
          </a:xfrm>
          <a:prstGeom prst="rect">
            <a:avLst/>
          </a:prstGeom>
          <a:solidFill>
            <a:srgbClr val="1B5E20"/>
          </a:solidFill>
          <a:ln/>
        </p:spPr>
      </p:sp>
      <p:sp>
        <p:nvSpPr>
          <p:cNvPr id="29" name="Text 27"/>
          <p:cNvSpPr/>
          <p:nvPr/>
        </p:nvSpPr>
        <p:spPr>
          <a:xfrm>
            <a:off x="3200400" y="2834640"/>
            <a:ext cx="274320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0" name="Text 28"/>
          <p:cNvSpPr/>
          <p:nvPr/>
        </p:nvSpPr>
        <p:spPr>
          <a:xfrm>
            <a:off x="3200400" y="3401568"/>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Usability</a:t>
            </a:r>
            <a:endParaRPr lang="en-US" sz="1300" dirty="0"/>
          </a:p>
        </p:txBody>
      </p:sp>
      <p:sp>
        <p:nvSpPr>
          <p:cNvPr id="31" name="Text 29"/>
          <p:cNvSpPr/>
          <p:nvPr/>
        </p:nvSpPr>
        <p:spPr>
          <a:xfrm>
            <a:off x="3337560" y="3749040"/>
            <a:ext cx="2468880" cy="777240"/>
          </a:xfrm>
          <a:prstGeom prst="rect">
            <a:avLst/>
          </a:prstGeom>
          <a:noFill/>
          <a:ln/>
        </p:spPr>
        <p:txBody>
          <a:bodyPr wrap="square" rtlCol="0" anchor="t"/>
          <a:lstStyle/>
          <a:p>
            <a:pPr algn="ctr" indent="0" marL="0">
              <a:buNone/>
            </a:pPr>
            <a:r>
              <a:rPr lang="en-US" sz="1050" dirty="0">
                <a:solidFill>
                  <a:srgbClr val="2D2D2D"/>
                </a:solidFill>
                <a:latin typeface="Calibri" pitchFamily="34" charset="0"/>
                <a:ea typeface="Calibri" pitchFamily="34" charset="-122"/>
                <a:cs typeface="Calibri" pitchFamily="34" charset="-120"/>
              </a:rPr>
              <a:t>Simple, interactive, and child-friendly UI with intuitive navigation for school students.</a:t>
            </a:r>
            <a:endParaRPr lang="en-US" sz="1050" dirty="0"/>
          </a:p>
        </p:txBody>
      </p:sp>
      <p:sp>
        <p:nvSpPr>
          <p:cNvPr id="32" name="Shape 30"/>
          <p:cNvSpPr/>
          <p:nvPr/>
        </p:nvSpPr>
        <p:spPr>
          <a:xfrm>
            <a:off x="6126480" y="2743200"/>
            <a:ext cx="2743200" cy="1828800"/>
          </a:xfrm>
          <a:prstGeom prst="rect">
            <a:avLst/>
          </a:prstGeom>
          <a:solidFill>
            <a:srgbClr val="FFFFFF"/>
          </a:solidFill>
          <a:ln/>
          <a:effectLst>
            <a:outerShdw sx="100000" sy="100000" kx="0" ky="0" algn="bl" rotWithShape="0" blurRad="76200" dist="25400" dir="16200000">
              <a:srgbClr val="000000">
                <a:alpha val="10000"/>
              </a:srgbClr>
            </a:outerShdw>
          </a:effectLst>
        </p:spPr>
      </p:sp>
      <p:sp>
        <p:nvSpPr>
          <p:cNvPr id="33" name="Shape 31"/>
          <p:cNvSpPr/>
          <p:nvPr/>
        </p:nvSpPr>
        <p:spPr>
          <a:xfrm>
            <a:off x="6126480" y="2743200"/>
            <a:ext cx="2743200" cy="73152"/>
          </a:xfrm>
          <a:prstGeom prst="rect">
            <a:avLst/>
          </a:prstGeom>
          <a:solidFill>
            <a:srgbClr val="1B5E20"/>
          </a:solidFill>
          <a:ln/>
        </p:spPr>
      </p:sp>
      <p:sp>
        <p:nvSpPr>
          <p:cNvPr id="34" name="Text 32"/>
          <p:cNvSpPr/>
          <p:nvPr/>
        </p:nvSpPr>
        <p:spPr>
          <a:xfrm>
            <a:off x="6126480" y="2834640"/>
            <a:ext cx="274320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5" name="Text 33"/>
          <p:cNvSpPr/>
          <p:nvPr/>
        </p:nvSpPr>
        <p:spPr>
          <a:xfrm>
            <a:off x="6126480" y="3401568"/>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Maintainability</a:t>
            </a:r>
            <a:endParaRPr lang="en-US" sz="1300" dirty="0"/>
          </a:p>
        </p:txBody>
      </p:sp>
      <p:sp>
        <p:nvSpPr>
          <p:cNvPr id="36" name="Text 34"/>
          <p:cNvSpPr/>
          <p:nvPr/>
        </p:nvSpPr>
        <p:spPr>
          <a:xfrm>
            <a:off x="6263640" y="3749040"/>
            <a:ext cx="2468880" cy="777240"/>
          </a:xfrm>
          <a:prstGeom prst="rect">
            <a:avLst/>
          </a:prstGeom>
          <a:noFill/>
          <a:ln/>
        </p:spPr>
        <p:txBody>
          <a:bodyPr wrap="square" rtlCol="0" anchor="t"/>
          <a:lstStyle/>
          <a:p>
            <a:pPr algn="ctr" indent="0" marL="0">
              <a:buNone/>
            </a:pPr>
            <a:r>
              <a:rPr lang="en-US" sz="1050" dirty="0">
                <a:solidFill>
                  <a:srgbClr val="2D2D2D"/>
                </a:solidFill>
                <a:latin typeface="Calibri" pitchFamily="34" charset="0"/>
                <a:ea typeface="Calibri" pitchFamily="34" charset="-122"/>
                <a:cs typeface="Calibri" pitchFamily="34" charset="-120"/>
              </a:rPr>
              <a:t>Modular Flask-based architecture allowing easy updates and feature additions.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HARDWARE &amp; SOFTWARE REQUIREMENTS</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274320" y="731520"/>
            <a:ext cx="4160520" cy="3931920"/>
          </a:xfrm>
          <a:prstGeom prst="rect">
            <a:avLst/>
          </a:prstGeom>
          <a:solidFill>
            <a:srgbClr val="F1F8E9"/>
          </a:solidFill>
          <a:ln/>
          <a:effectLst>
            <a:outerShdw sx="100000" sy="100000" kx="0" ky="0" algn="bl" rotWithShape="0" blurRad="76200" dist="25400" dir="16200000">
              <a:srgbClr val="000000">
                <a:alpha val="10000"/>
              </a:srgbClr>
            </a:outerShdw>
          </a:effectLst>
        </p:spPr>
      </p:sp>
      <p:sp>
        <p:nvSpPr>
          <p:cNvPr id="8" name="Shape 6"/>
          <p:cNvSpPr/>
          <p:nvPr/>
        </p:nvSpPr>
        <p:spPr>
          <a:xfrm>
            <a:off x="274320" y="731520"/>
            <a:ext cx="4160520" cy="457200"/>
          </a:xfrm>
          <a:prstGeom prst="rect">
            <a:avLst/>
          </a:prstGeom>
          <a:solidFill>
            <a:srgbClr val="1B5E20"/>
          </a:solidFill>
          <a:ln/>
        </p:spPr>
      </p:sp>
      <p:sp>
        <p:nvSpPr>
          <p:cNvPr id="9" name="Text 7"/>
          <p:cNvSpPr/>
          <p:nvPr/>
        </p:nvSpPr>
        <p:spPr>
          <a:xfrm>
            <a:off x="274320" y="731520"/>
            <a:ext cx="41605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Software Requirements</a:t>
            </a:r>
            <a:endParaRPr lang="en-US" sz="1300" dirty="0"/>
          </a:p>
        </p:txBody>
      </p:sp>
      <p:sp>
        <p:nvSpPr>
          <p:cNvPr id="10" name="Text 8"/>
          <p:cNvSpPr/>
          <p:nvPr/>
        </p:nvSpPr>
        <p:spPr>
          <a:xfrm>
            <a:off x="457200" y="1325880"/>
            <a:ext cx="1371600" cy="41148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Frontend:</a:t>
            </a:r>
            <a:endParaRPr lang="en-US" sz="1200" dirty="0"/>
          </a:p>
        </p:txBody>
      </p:sp>
      <p:sp>
        <p:nvSpPr>
          <p:cNvPr id="11" name="Text 9"/>
          <p:cNvSpPr/>
          <p:nvPr/>
        </p:nvSpPr>
        <p:spPr>
          <a:xfrm>
            <a:off x="1920240" y="1325880"/>
            <a:ext cx="228600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HTML, CSS, JavaScript</a:t>
            </a:r>
            <a:endParaRPr lang="en-US" sz="1200" dirty="0"/>
          </a:p>
        </p:txBody>
      </p:sp>
      <p:sp>
        <p:nvSpPr>
          <p:cNvPr id="12" name="Text 10"/>
          <p:cNvSpPr/>
          <p:nvPr/>
        </p:nvSpPr>
        <p:spPr>
          <a:xfrm>
            <a:off x="457200" y="1828800"/>
            <a:ext cx="1371600" cy="41148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Backend:</a:t>
            </a:r>
            <a:endParaRPr lang="en-US" sz="1200" dirty="0"/>
          </a:p>
        </p:txBody>
      </p:sp>
      <p:sp>
        <p:nvSpPr>
          <p:cNvPr id="13" name="Text 11"/>
          <p:cNvSpPr/>
          <p:nvPr/>
        </p:nvSpPr>
        <p:spPr>
          <a:xfrm>
            <a:off x="1920240" y="1828800"/>
            <a:ext cx="228600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Flask (Python)</a:t>
            </a:r>
            <a:endParaRPr lang="en-US" sz="1200" dirty="0"/>
          </a:p>
        </p:txBody>
      </p:sp>
      <p:sp>
        <p:nvSpPr>
          <p:cNvPr id="14" name="Text 12"/>
          <p:cNvSpPr/>
          <p:nvPr/>
        </p:nvSpPr>
        <p:spPr>
          <a:xfrm>
            <a:off x="457200" y="2331720"/>
            <a:ext cx="1371600" cy="41148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Database:</a:t>
            </a:r>
            <a:endParaRPr lang="en-US" sz="1200" dirty="0"/>
          </a:p>
        </p:txBody>
      </p:sp>
      <p:sp>
        <p:nvSpPr>
          <p:cNvPr id="15" name="Text 13"/>
          <p:cNvSpPr/>
          <p:nvPr/>
        </p:nvSpPr>
        <p:spPr>
          <a:xfrm>
            <a:off x="1920240" y="2331720"/>
            <a:ext cx="228600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SQLite, SQLAlchemy</a:t>
            </a:r>
            <a:endParaRPr lang="en-US" sz="1200" dirty="0"/>
          </a:p>
        </p:txBody>
      </p:sp>
      <p:sp>
        <p:nvSpPr>
          <p:cNvPr id="16" name="Text 14"/>
          <p:cNvSpPr/>
          <p:nvPr/>
        </p:nvSpPr>
        <p:spPr>
          <a:xfrm>
            <a:off x="457200" y="2834640"/>
            <a:ext cx="1371600" cy="41148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IDE:</a:t>
            </a:r>
            <a:endParaRPr lang="en-US" sz="1200" dirty="0"/>
          </a:p>
        </p:txBody>
      </p:sp>
      <p:sp>
        <p:nvSpPr>
          <p:cNvPr id="17" name="Text 15"/>
          <p:cNvSpPr/>
          <p:nvPr/>
        </p:nvSpPr>
        <p:spPr>
          <a:xfrm>
            <a:off x="1920240" y="2834640"/>
            <a:ext cx="228600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Visual Studio Code</a:t>
            </a:r>
            <a:endParaRPr lang="en-US" sz="1200" dirty="0"/>
          </a:p>
        </p:txBody>
      </p:sp>
      <p:sp>
        <p:nvSpPr>
          <p:cNvPr id="18" name="Text 16"/>
          <p:cNvSpPr/>
          <p:nvPr/>
        </p:nvSpPr>
        <p:spPr>
          <a:xfrm>
            <a:off x="457200" y="3337560"/>
            <a:ext cx="1371600" cy="41148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Version Control:</a:t>
            </a:r>
            <a:endParaRPr lang="en-US" sz="1200" dirty="0"/>
          </a:p>
        </p:txBody>
      </p:sp>
      <p:sp>
        <p:nvSpPr>
          <p:cNvPr id="19" name="Text 17"/>
          <p:cNvSpPr/>
          <p:nvPr/>
        </p:nvSpPr>
        <p:spPr>
          <a:xfrm>
            <a:off x="1920240" y="3337560"/>
            <a:ext cx="228600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Git / GitHub</a:t>
            </a:r>
            <a:endParaRPr lang="en-US" sz="1200" dirty="0"/>
          </a:p>
        </p:txBody>
      </p:sp>
      <p:sp>
        <p:nvSpPr>
          <p:cNvPr id="20" name="Text 18"/>
          <p:cNvSpPr/>
          <p:nvPr/>
        </p:nvSpPr>
        <p:spPr>
          <a:xfrm>
            <a:off x="457200" y="3840480"/>
            <a:ext cx="1371600" cy="41148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Browser:</a:t>
            </a:r>
            <a:endParaRPr lang="en-US" sz="1200" dirty="0"/>
          </a:p>
        </p:txBody>
      </p:sp>
      <p:sp>
        <p:nvSpPr>
          <p:cNvPr id="21" name="Text 19"/>
          <p:cNvSpPr/>
          <p:nvPr/>
        </p:nvSpPr>
        <p:spPr>
          <a:xfrm>
            <a:off x="1920240" y="3840480"/>
            <a:ext cx="228600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Chrome / Firefox (Modern)</a:t>
            </a:r>
            <a:endParaRPr lang="en-US" sz="1200" dirty="0"/>
          </a:p>
        </p:txBody>
      </p:sp>
      <p:sp>
        <p:nvSpPr>
          <p:cNvPr id="22" name="Shape 20"/>
          <p:cNvSpPr/>
          <p:nvPr/>
        </p:nvSpPr>
        <p:spPr>
          <a:xfrm>
            <a:off x="4709160" y="731520"/>
            <a:ext cx="4160520" cy="3931920"/>
          </a:xfrm>
          <a:prstGeom prst="rect">
            <a:avLst/>
          </a:prstGeom>
          <a:solidFill>
            <a:srgbClr val="EDE7F6"/>
          </a:solidFill>
          <a:ln/>
          <a:effectLst>
            <a:outerShdw sx="100000" sy="100000" kx="0" ky="0" algn="bl" rotWithShape="0" blurRad="76200" dist="25400" dir="16200000">
              <a:srgbClr val="000000">
                <a:alpha val="10000"/>
              </a:srgbClr>
            </a:outerShdw>
          </a:effectLst>
        </p:spPr>
      </p:sp>
      <p:sp>
        <p:nvSpPr>
          <p:cNvPr id="23" name="Shape 21"/>
          <p:cNvSpPr/>
          <p:nvPr/>
        </p:nvSpPr>
        <p:spPr>
          <a:xfrm>
            <a:off x="4709160" y="731520"/>
            <a:ext cx="4160520" cy="457200"/>
          </a:xfrm>
          <a:prstGeom prst="rect">
            <a:avLst/>
          </a:prstGeom>
          <a:solidFill>
            <a:srgbClr val="00695C"/>
          </a:solidFill>
          <a:ln/>
        </p:spPr>
      </p:sp>
      <p:sp>
        <p:nvSpPr>
          <p:cNvPr id="24" name="Text 22"/>
          <p:cNvSpPr/>
          <p:nvPr/>
        </p:nvSpPr>
        <p:spPr>
          <a:xfrm>
            <a:off x="4709160" y="731520"/>
            <a:ext cx="41605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Hardware Requirements</a:t>
            </a:r>
            <a:endParaRPr lang="en-US" sz="1300" dirty="0"/>
          </a:p>
        </p:txBody>
      </p:sp>
      <p:sp>
        <p:nvSpPr>
          <p:cNvPr id="25" name="Text 23"/>
          <p:cNvSpPr/>
          <p:nvPr/>
        </p:nvSpPr>
        <p:spPr>
          <a:xfrm>
            <a:off x="4892040" y="1325880"/>
            <a:ext cx="1371600" cy="41148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Processor:</a:t>
            </a:r>
            <a:endParaRPr lang="en-US" sz="1200" dirty="0"/>
          </a:p>
        </p:txBody>
      </p:sp>
      <p:sp>
        <p:nvSpPr>
          <p:cNvPr id="26" name="Text 24"/>
          <p:cNvSpPr/>
          <p:nvPr/>
        </p:nvSpPr>
        <p:spPr>
          <a:xfrm>
            <a:off x="6355080" y="1325880"/>
            <a:ext cx="237744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Intel i3 or above</a:t>
            </a:r>
            <a:endParaRPr lang="en-US" sz="1200" dirty="0"/>
          </a:p>
        </p:txBody>
      </p:sp>
      <p:sp>
        <p:nvSpPr>
          <p:cNvPr id="27" name="Text 25"/>
          <p:cNvSpPr/>
          <p:nvPr/>
        </p:nvSpPr>
        <p:spPr>
          <a:xfrm>
            <a:off x="4892040" y="1828800"/>
            <a:ext cx="1371600" cy="41148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RAM:</a:t>
            </a:r>
            <a:endParaRPr lang="en-US" sz="1200" dirty="0"/>
          </a:p>
        </p:txBody>
      </p:sp>
      <p:sp>
        <p:nvSpPr>
          <p:cNvPr id="28" name="Text 26"/>
          <p:cNvSpPr/>
          <p:nvPr/>
        </p:nvSpPr>
        <p:spPr>
          <a:xfrm>
            <a:off x="6355080" y="1828800"/>
            <a:ext cx="237744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Minimum 4 GB</a:t>
            </a:r>
            <a:endParaRPr lang="en-US" sz="1200" dirty="0"/>
          </a:p>
        </p:txBody>
      </p:sp>
      <p:sp>
        <p:nvSpPr>
          <p:cNvPr id="29" name="Text 27"/>
          <p:cNvSpPr/>
          <p:nvPr/>
        </p:nvSpPr>
        <p:spPr>
          <a:xfrm>
            <a:off x="4892040" y="2331720"/>
            <a:ext cx="1371600" cy="41148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Storage:</a:t>
            </a:r>
            <a:endParaRPr lang="en-US" sz="1200" dirty="0"/>
          </a:p>
        </p:txBody>
      </p:sp>
      <p:sp>
        <p:nvSpPr>
          <p:cNvPr id="30" name="Text 28"/>
          <p:cNvSpPr/>
          <p:nvPr/>
        </p:nvSpPr>
        <p:spPr>
          <a:xfrm>
            <a:off x="6355080" y="2331720"/>
            <a:ext cx="237744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Minimum 500 MB free</a:t>
            </a:r>
            <a:endParaRPr lang="en-US" sz="1200" dirty="0"/>
          </a:p>
        </p:txBody>
      </p:sp>
      <p:sp>
        <p:nvSpPr>
          <p:cNvPr id="31" name="Text 29"/>
          <p:cNvSpPr/>
          <p:nvPr/>
        </p:nvSpPr>
        <p:spPr>
          <a:xfrm>
            <a:off x="4892040" y="2834640"/>
            <a:ext cx="1371600" cy="41148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Device:</a:t>
            </a:r>
            <a:endParaRPr lang="en-US" sz="1200" dirty="0"/>
          </a:p>
        </p:txBody>
      </p:sp>
      <p:sp>
        <p:nvSpPr>
          <p:cNvPr id="32" name="Text 30"/>
          <p:cNvSpPr/>
          <p:nvPr/>
        </p:nvSpPr>
        <p:spPr>
          <a:xfrm>
            <a:off x="6355080" y="2834640"/>
            <a:ext cx="237744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Laptop, Desktop, Mobile</a:t>
            </a:r>
            <a:endParaRPr lang="en-US" sz="1200" dirty="0"/>
          </a:p>
        </p:txBody>
      </p:sp>
      <p:sp>
        <p:nvSpPr>
          <p:cNvPr id="33" name="Text 31"/>
          <p:cNvSpPr/>
          <p:nvPr/>
        </p:nvSpPr>
        <p:spPr>
          <a:xfrm>
            <a:off x="4892040" y="3337560"/>
            <a:ext cx="1371600" cy="41148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Internet:</a:t>
            </a:r>
            <a:endParaRPr lang="en-US" sz="1200" dirty="0"/>
          </a:p>
        </p:txBody>
      </p:sp>
      <p:sp>
        <p:nvSpPr>
          <p:cNvPr id="34" name="Text 32"/>
          <p:cNvSpPr/>
          <p:nvPr/>
        </p:nvSpPr>
        <p:spPr>
          <a:xfrm>
            <a:off x="6355080" y="3337560"/>
            <a:ext cx="237744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Required for hosting</a:t>
            </a:r>
            <a:endParaRPr lang="en-US" sz="1200" dirty="0"/>
          </a:p>
        </p:txBody>
      </p:sp>
      <p:sp>
        <p:nvSpPr>
          <p:cNvPr id="35" name="Text 33"/>
          <p:cNvSpPr/>
          <p:nvPr/>
        </p:nvSpPr>
        <p:spPr>
          <a:xfrm>
            <a:off x="4892040" y="3840480"/>
            <a:ext cx="1371600" cy="41148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Display:</a:t>
            </a:r>
            <a:endParaRPr lang="en-US" sz="1200" dirty="0"/>
          </a:p>
        </p:txBody>
      </p:sp>
      <p:sp>
        <p:nvSpPr>
          <p:cNvPr id="36" name="Text 34"/>
          <p:cNvSpPr/>
          <p:nvPr/>
        </p:nvSpPr>
        <p:spPr>
          <a:xfrm>
            <a:off x="6355080" y="3840480"/>
            <a:ext cx="2377440" cy="411480"/>
          </a:xfrm>
          <a:prstGeom prst="rect">
            <a:avLst/>
          </a:prstGeom>
          <a:noFill/>
          <a:ln/>
        </p:spPr>
        <p:txBody>
          <a:bodyPr wrap="square"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1024 x 768 or higher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18</a:t>
            </a:r>
            <a:endParaRPr lang="en-US" sz="900" dirty="0"/>
          </a:p>
        </p:txBody>
      </p:sp>
      <p:sp>
        <p:nvSpPr>
          <p:cNvPr id="7" name="Shape 5"/>
          <p:cNvSpPr/>
          <p:nvPr/>
        </p:nvSpPr>
        <p:spPr>
          <a:xfrm>
            <a:off x="182880" y="658368"/>
            <a:ext cx="4251960" cy="1280160"/>
          </a:xfrm>
          <a:prstGeom prst="rect">
            <a:avLst/>
          </a:prstGeom>
          <a:solidFill>
            <a:srgbClr val="ECEFF1"/>
          </a:solidFill>
          <a:ln/>
        </p:spPr>
      </p:sp>
      <p:pic>
        <p:nvPicPr>
          <p:cNvPr id="8" name="Image 0" descr="/mnt/user-data/uploads/WhatsApp_Image_2026-03-08_at_8_28_36_PM.jpeg">    </p:cNvPr>
          <p:cNvPicPr>
            <a:picLocks noChangeAspect="1"/>
          </p:cNvPicPr>
          <p:nvPr/>
        </p:nvPicPr>
        <p:blipFill>
          <a:blip r:embed="rId1"/>
          <a:srcRect l="0" r="0" t="0" b="0"/>
          <a:stretch/>
        </p:blipFill>
        <p:spPr>
          <a:xfrm>
            <a:off x="182880" y="658368"/>
            <a:ext cx="4251960" cy="1280160"/>
          </a:xfrm>
          <a:prstGeom prst="rect">
            <a:avLst/>
          </a:prstGeom>
        </p:spPr>
      </p:pic>
      <p:sp>
        <p:nvSpPr>
          <p:cNvPr id="9" name="Shape 6"/>
          <p:cNvSpPr/>
          <p:nvPr/>
        </p:nvSpPr>
        <p:spPr>
          <a:xfrm>
            <a:off x="182880" y="1938528"/>
            <a:ext cx="4251960" cy="292608"/>
          </a:xfrm>
          <a:prstGeom prst="rect">
            <a:avLst/>
          </a:prstGeom>
          <a:solidFill>
            <a:srgbClr val="1B5E20"/>
          </a:solidFill>
          <a:ln/>
        </p:spPr>
      </p:sp>
      <p:sp>
        <p:nvSpPr>
          <p:cNvPr id="10" name="Text 7"/>
          <p:cNvSpPr/>
          <p:nvPr/>
        </p:nvSpPr>
        <p:spPr>
          <a:xfrm>
            <a:off x="182880" y="1938528"/>
            <a:ext cx="4251960"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Home Page / Main Dashboard</a:t>
            </a:r>
            <a:endParaRPr lang="en-US" sz="1050" dirty="0"/>
          </a:p>
        </p:txBody>
      </p:sp>
      <p:sp>
        <p:nvSpPr>
          <p:cNvPr id="11" name="Text 8"/>
          <p:cNvSpPr/>
          <p:nvPr/>
        </p:nvSpPr>
        <p:spPr>
          <a:xfrm>
            <a:off x="228600" y="2240280"/>
            <a:ext cx="4160520" cy="502920"/>
          </a:xfrm>
          <a:prstGeom prst="rect">
            <a:avLst/>
          </a:prstGeom>
          <a:noFill/>
          <a:ln/>
        </p:spPr>
        <p:txBody>
          <a:bodyPr wrap="square" rtlCol="0" anchor="t"/>
          <a:lstStyle/>
          <a:p>
            <a:pPr algn="ctr" indent="0" marL="0">
              <a:buNone/>
            </a:pPr>
            <a:r>
              <a:rPr lang="en-US" sz="950" dirty="0">
                <a:solidFill>
                  <a:srgbClr val="546E7A"/>
                </a:solidFill>
                <a:latin typeface="Calibri" pitchFamily="34" charset="0"/>
                <a:ea typeface="Calibri" pitchFamily="34" charset="-122"/>
                <a:cs typeface="Calibri" pitchFamily="34" charset="-120"/>
              </a:rPr>
              <a:t>Main interface where students access Games, Videos, Quizzes, Challenges, and Leaderboard.</a:t>
            </a:r>
            <a:endParaRPr lang="en-US" sz="950" dirty="0"/>
          </a:p>
        </p:txBody>
      </p:sp>
      <p:sp>
        <p:nvSpPr>
          <p:cNvPr id="12" name="Shape 9"/>
          <p:cNvSpPr/>
          <p:nvPr/>
        </p:nvSpPr>
        <p:spPr>
          <a:xfrm>
            <a:off x="4709160" y="658368"/>
            <a:ext cx="4251960" cy="1280160"/>
          </a:xfrm>
          <a:prstGeom prst="rect">
            <a:avLst/>
          </a:prstGeom>
          <a:solidFill>
            <a:srgbClr val="ECEFF1"/>
          </a:solidFill>
          <a:ln/>
        </p:spPr>
      </p:sp>
      <p:pic>
        <p:nvPicPr>
          <p:cNvPr id="13" name="Image 1" descr="/mnt/user-data/uploads/WhatsApp_Image_2026-03-08_at_8_29_04_PM.jpeg">    </p:cNvPr>
          <p:cNvPicPr>
            <a:picLocks noChangeAspect="1"/>
          </p:cNvPicPr>
          <p:nvPr/>
        </p:nvPicPr>
        <p:blipFill>
          <a:blip r:embed="rId2"/>
          <a:srcRect l="0" r="0" t="0" b="0"/>
          <a:stretch/>
        </p:blipFill>
        <p:spPr>
          <a:xfrm>
            <a:off x="4709160" y="658368"/>
            <a:ext cx="4251960" cy="1280160"/>
          </a:xfrm>
          <a:prstGeom prst="rect">
            <a:avLst/>
          </a:prstGeom>
        </p:spPr>
      </p:pic>
      <p:sp>
        <p:nvSpPr>
          <p:cNvPr id="14" name="Shape 10"/>
          <p:cNvSpPr/>
          <p:nvPr/>
        </p:nvSpPr>
        <p:spPr>
          <a:xfrm>
            <a:off x="4709160" y="1938528"/>
            <a:ext cx="4251960" cy="292608"/>
          </a:xfrm>
          <a:prstGeom prst="rect">
            <a:avLst/>
          </a:prstGeom>
          <a:solidFill>
            <a:srgbClr val="00695C"/>
          </a:solidFill>
          <a:ln/>
        </p:spPr>
      </p:sp>
      <p:sp>
        <p:nvSpPr>
          <p:cNvPr id="15" name="Text 11"/>
          <p:cNvSpPr/>
          <p:nvPr/>
        </p:nvSpPr>
        <p:spPr>
          <a:xfrm>
            <a:off x="4709160" y="1938528"/>
            <a:ext cx="4251960"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Student Login Page</a:t>
            </a:r>
            <a:endParaRPr lang="en-US" sz="1050" dirty="0"/>
          </a:p>
        </p:txBody>
      </p:sp>
      <p:sp>
        <p:nvSpPr>
          <p:cNvPr id="16" name="Text 12"/>
          <p:cNvSpPr/>
          <p:nvPr/>
        </p:nvSpPr>
        <p:spPr>
          <a:xfrm>
            <a:off x="4754880" y="2240280"/>
            <a:ext cx="4160520" cy="502920"/>
          </a:xfrm>
          <a:prstGeom prst="rect">
            <a:avLst/>
          </a:prstGeom>
          <a:noFill/>
          <a:ln/>
        </p:spPr>
        <p:txBody>
          <a:bodyPr wrap="square" rtlCol="0" anchor="t"/>
          <a:lstStyle/>
          <a:p>
            <a:pPr algn="ctr" indent="0" marL="0">
              <a:buNone/>
            </a:pPr>
            <a:r>
              <a:rPr lang="en-US" sz="950" dirty="0">
                <a:solidFill>
                  <a:srgbClr val="546E7A"/>
                </a:solidFill>
                <a:latin typeface="Calibri" pitchFamily="34" charset="0"/>
                <a:ea typeface="Calibri" pitchFamily="34" charset="-122"/>
                <a:cs typeface="Calibri" pitchFamily="34" charset="-120"/>
              </a:rPr>
              <a:t>Login interface where students enter their details to access the platform.</a:t>
            </a:r>
            <a:endParaRPr lang="en-US" sz="950" dirty="0"/>
          </a:p>
        </p:txBody>
      </p:sp>
      <p:sp>
        <p:nvSpPr>
          <p:cNvPr id="17" name="Shape 13"/>
          <p:cNvSpPr/>
          <p:nvPr/>
        </p:nvSpPr>
        <p:spPr>
          <a:xfrm>
            <a:off x="182880" y="2834640"/>
            <a:ext cx="4251960" cy="1280160"/>
          </a:xfrm>
          <a:prstGeom prst="rect">
            <a:avLst/>
          </a:prstGeom>
          <a:solidFill>
            <a:srgbClr val="ECEFF1"/>
          </a:solidFill>
          <a:ln/>
        </p:spPr>
      </p:sp>
      <p:pic>
        <p:nvPicPr>
          <p:cNvPr id="18" name="Image 2" descr="/mnt/user-data/uploads/WhatsApp_Image_2026-03-08_at_8_36_33_PM.jpeg">    </p:cNvPr>
          <p:cNvPicPr>
            <a:picLocks noChangeAspect="1"/>
          </p:cNvPicPr>
          <p:nvPr/>
        </p:nvPicPr>
        <p:blipFill>
          <a:blip r:embed="rId3"/>
          <a:srcRect l="0" r="0" t="0" b="0"/>
          <a:stretch/>
        </p:blipFill>
        <p:spPr>
          <a:xfrm>
            <a:off x="182880" y="2834640"/>
            <a:ext cx="4251960" cy="1280160"/>
          </a:xfrm>
          <a:prstGeom prst="rect">
            <a:avLst/>
          </a:prstGeom>
        </p:spPr>
      </p:pic>
      <p:sp>
        <p:nvSpPr>
          <p:cNvPr id="19" name="Shape 14"/>
          <p:cNvSpPr/>
          <p:nvPr/>
        </p:nvSpPr>
        <p:spPr>
          <a:xfrm>
            <a:off x="182880" y="4114800"/>
            <a:ext cx="4251960" cy="292608"/>
          </a:xfrm>
          <a:prstGeom prst="rect">
            <a:avLst/>
          </a:prstGeom>
          <a:solidFill>
            <a:srgbClr val="2E7D32"/>
          </a:solidFill>
          <a:ln/>
        </p:spPr>
      </p:sp>
      <p:sp>
        <p:nvSpPr>
          <p:cNvPr id="20" name="Text 15"/>
          <p:cNvSpPr/>
          <p:nvPr/>
        </p:nvSpPr>
        <p:spPr>
          <a:xfrm>
            <a:off x="182880" y="4114800"/>
            <a:ext cx="4251960"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Teacher Dashboard</a:t>
            </a:r>
            <a:endParaRPr lang="en-US" sz="1050" dirty="0"/>
          </a:p>
        </p:txBody>
      </p:sp>
      <p:sp>
        <p:nvSpPr>
          <p:cNvPr id="21" name="Text 16"/>
          <p:cNvSpPr/>
          <p:nvPr/>
        </p:nvSpPr>
        <p:spPr>
          <a:xfrm>
            <a:off x="228600" y="4416552"/>
            <a:ext cx="4160520" cy="502920"/>
          </a:xfrm>
          <a:prstGeom prst="rect">
            <a:avLst/>
          </a:prstGeom>
          <a:noFill/>
          <a:ln/>
        </p:spPr>
        <p:txBody>
          <a:bodyPr wrap="square" rtlCol="0" anchor="t"/>
          <a:lstStyle/>
          <a:p>
            <a:pPr algn="ctr" indent="0" marL="0">
              <a:buNone/>
            </a:pPr>
            <a:r>
              <a:rPr lang="en-US" sz="950" dirty="0">
                <a:solidFill>
                  <a:srgbClr val="546E7A"/>
                </a:solidFill>
                <a:latin typeface="Calibri" pitchFamily="34" charset="0"/>
                <a:ea typeface="Calibri" pitchFamily="34" charset="-122"/>
                <a:cs typeface="Calibri" pitchFamily="34" charset="-120"/>
              </a:rPr>
              <a:t>Displays class overview, student performance, and leaderboard rankings.</a:t>
            </a:r>
            <a:endParaRPr lang="en-US" sz="950" dirty="0"/>
          </a:p>
        </p:txBody>
      </p:sp>
      <p:sp>
        <p:nvSpPr>
          <p:cNvPr id="22" name="Shape 17"/>
          <p:cNvSpPr/>
          <p:nvPr/>
        </p:nvSpPr>
        <p:spPr>
          <a:xfrm>
            <a:off x="4709160" y="2834640"/>
            <a:ext cx="4251960" cy="1280160"/>
          </a:xfrm>
          <a:prstGeom prst="rect">
            <a:avLst/>
          </a:prstGeom>
          <a:solidFill>
            <a:srgbClr val="ECEFF1"/>
          </a:solidFill>
          <a:ln/>
        </p:spPr>
      </p:sp>
      <p:pic>
        <p:nvPicPr>
          <p:cNvPr id="23" name="Image 3" descr="/mnt/user-data/uploads/WhatsApp_Image_2026-03-08_at_8_32_30_PM.jpeg">    </p:cNvPr>
          <p:cNvPicPr>
            <a:picLocks noChangeAspect="1"/>
          </p:cNvPicPr>
          <p:nvPr/>
        </p:nvPicPr>
        <p:blipFill>
          <a:blip r:embed="rId4"/>
          <a:srcRect l="0" r="0" t="0" b="0"/>
          <a:stretch/>
        </p:blipFill>
        <p:spPr>
          <a:xfrm>
            <a:off x="4709160" y="2834640"/>
            <a:ext cx="4251960" cy="1280160"/>
          </a:xfrm>
          <a:prstGeom prst="rect">
            <a:avLst/>
          </a:prstGeom>
        </p:spPr>
      </p:pic>
      <p:sp>
        <p:nvSpPr>
          <p:cNvPr id="24" name="Shape 18"/>
          <p:cNvSpPr/>
          <p:nvPr/>
        </p:nvSpPr>
        <p:spPr>
          <a:xfrm>
            <a:off x="4709160" y="4114800"/>
            <a:ext cx="4251960" cy="292608"/>
          </a:xfrm>
          <a:prstGeom prst="rect">
            <a:avLst/>
          </a:prstGeom>
          <a:solidFill>
            <a:srgbClr val="00838F"/>
          </a:solidFill>
          <a:ln/>
        </p:spPr>
      </p:sp>
      <p:sp>
        <p:nvSpPr>
          <p:cNvPr id="25" name="Text 19"/>
          <p:cNvSpPr/>
          <p:nvPr/>
        </p:nvSpPr>
        <p:spPr>
          <a:xfrm>
            <a:off x="4709160" y="4114800"/>
            <a:ext cx="4251960"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Ocean Cleanup Game</a:t>
            </a:r>
            <a:endParaRPr lang="en-US" sz="1050" dirty="0"/>
          </a:p>
        </p:txBody>
      </p:sp>
      <p:sp>
        <p:nvSpPr>
          <p:cNvPr id="26" name="Text 20"/>
          <p:cNvSpPr/>
          <p:nvPr/>
        </p:nvSpPr>
        <p:spPr>
          <a:xfrm>
            <a:off x="4754880" y="4416552"/>
            <a:ext cx="4160520" cy="502920"/>
          </a:xfrm>
          <a:prstGeom prst="rect">
            <a:avLst/>
          </a:prstGeom>
          <a:noFill/>
          <a:ln/>
        </p:spPr>
        <p:txBody>
          <a:bodyPr wrap="square" rtlCol="0" anchor="t"/>
          <a:lstStyle/>
          <a:p>
            <a:pPr algn="ctr" indent="0" marL="0">
              <a:buNone/>
            </a:pPr>
            <a:r>
              <a:rPr lang="en-US" sz="950" dirty="0">
                <a:solidFill>
                  <a:srgbClr val="546E7A"/>
                </a:solidFill>
                <a:latin typeface="Calibri" pitchFamily="34" charset="0"/>
                <a:ea typeface="Calibri" pitchFamily="34" charset="-122"/>
                <a:cs typeface="Calibri" pitchFamily="34" charset="-120"/>
              </a:rPr>
              <a:t>Students collect ocean waste and learn about marine pollution interactively.</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 (CONTD.)</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228600" y="685800"/>
            <a:ext cx="2743200" cy="3108960"/>
          </a:xfrm>
          <a:prstGeom prst="rect">
            <a:avLst/>
          </a:prstGeom>
          <a:solidFill>
            <a:srgbClr val="ECEFF1"/>
          </a:solidFill>
          <a:ln/>
        </p:spPr>
      </p:sp>
      <p:pic>
        <p:nvPicPr>
          <p:cNvPr id="8" name="Image 0" descr="/mnt/user-data/uploads/WhatsApp_Image_2026-03-08_at_8_33_42_PM.jpeg">    </p:cNvPr>
          <p:cNvPicPr>
            <a:picLocks noChangeAspect="1"/>
          </p:cNvPicPr>
          <p:nvPr/>
        </p:nvPicPr>
        <p:blipFill>
          <a:blip r:embed="rId1"/>
          <a:srcRect l="0" r="0" t="0" b="0"/>
          <a:stretch/>
        </p:blipFill>
        <p:spPr>
          <a:xfrm>
            <a:off x="228600" y="685800"/>
            <a:ext cx="2743200" cy="3108960"/>
          </a:xfrm>
          <a:prstGeom prst="rect">
            <a:avLst/>
          </a:prstGeom>
        </p:spPr>
      </p:pic>
      <p:sp>
        <p:nvSpPr>
          <p:cNvPr id="9" name="Shape 6"/>
          <p:cNvSpPr/>
          <p:nvPr/>
        </p:nvSpPr>
        <p:spPr>
          <a:xfrm>
            <a:off x="228600" y="3794760"/>
            <a:ext cx="2743200" cy="292608"/>
          </a:xfrm>
          <a:prstGeom prst="rect">
            <a:avLst/>
          </a:prstGeom>
          <a:solidFill>
            <a:srgbClr val="6A1B9A"/>
          </a:solidFill>
          <a:ln/>
        </p:spPr>
      </p:sp>
      <p:sp>
        <p:nvSpPr>
          <p:cNvPr id="10" name="Text 7"/>
          <p:cNvSpPr/>
          <p:nvPr/>
        </p:nvSpPr>
        <p:spPr>
          <a:xfrm>
            <a:off x="228600" y="3794760"/>
            <a:ext cx="2743200"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Image Puzzle Game</a:t>
            </a:r>
            <a:endParaRPr lang="en-US" sz="1050" dirty="0"/>
          </a:p>
        </p:txBody>
      </p:sp>
      <p:sp>
        <p:nvSpPr>
          <p:cNvPr id="11" name="Text 8"/>
          <p:cNvSpPr/>
          <p:nvPr/>
        </p:nvSpPr>
        <p:spPr>
          <a:xfrm>
            <a:off x="274320" y="4096512"/>
            <a:ext cx="2651760" cy="502920"/>
          </a:xfrm>
          <a:prstGeom prst="rect">
            <a:avLst/>
          </a:prstGeom>
          <a:noFill/>
          <a:ln/>
        </p:spPr>
        <p:txBody>
          <a:bodyPr wrap="square" rtlCol="0" anchor="t"/>
          <a:lstStyle/>
          <a:p>
            <a:pPr algn="ctr" indent="0" marL="0">
              <a:buNone/>
            </a:pPr>
            <a:r>
              <a:rPr lang="en-US" sz="950" dirty="0">
                <a:solidFill>
                  <a:srgbClr val="546E7A"/>
                </a:solidFill>
                <a:latin typeface="Calibri" pitchFamily="34" charset="0"/>
                <a:ea typeface="Calibri" pitchFamily="34" charset="-122"/>
                <a:cs typeface="Calibri" pitchFamily="34" charset="-120"/>
              </a:rPr>
              <a:t>Puzzle activity improving problem-solving skills while learning environmental concepts.</a:t>
            </a:r>
            <a:endParaRPr lang="en-US" sz="950" dirty="0"/>
          </a:p>
        </p:txBody>
      </p:sp>
      <p:sp>
        <p:nvSpPr>
          <p:cNvPr id="12" name="Shape 9"/>
          <p:cNvSpPr/>
          <p:nvPr/>
        </p:nvSpPr>
        <p:spPr>
          <a:xfrm>
            <a:off x="3200400" y="685800"/>
            <a:ext cx="2743200" cy="3108960"/>
          </a:xfrm>
          <a:prstGeom prst="rect">
            <a:avLst/>
          </a:prstGeom>
          <a:solidFill>
            <a:srgbClr val="ECEFF1"/>
          </a:solidFill>
          <a:ln/>
        </p:spPr>
      </p:sp>
      <p:pic>
        <p:nvPicPr>
          <p:cNvPr id="13" name="Image 1" descr="/mnt/user-data/uploads/WhatsApp_Image_2026-03-08_at_8_34_57_PM.jpeg">    </p:cNvPr>
          <p:cNvPicPr>
            <a:picLocks noChangeAspect="1"/>
          </p:cNvPicPr>
          <p:nvPr/>
        </p:nvPicPr>
        <p:blipFill>
          <a:blip r:embed="rId2"/>
          <a:srcRect l="0" r="0" t="0" b="0"/>
          <a:stretch/>
        </p:blipFill>
        <p:spPr>
          <a:xfrm>
            <a:off x="3200400" y="685800"/>
            <a:ext cx="2743200" cy="3108960"/>
          </a:xfrm>
          <a:prstGeom prst="rect">
            <a:avLst/>
          </a:prstGeom>
        </p:spPr>
      </p:pic>
      <p:sp>
        <p:nvSpPr>
          <p:cNvPr id="14" name="Shape 10"/>
          <p:cNvSpPr/>
          <p:nvPr/>
        </p:nvSpPr>
        <p:spPr>
          <a:xfrm>
            <a:off x="3200400" y="3794760"/>
            <a:ext cx="2743200" cy="292608"/>
          </a:xfrm>
          <a:prstGeom prst="rect">
            <a:avLst/>
          </a:prstGeom>
          <a:solidFill>
            <a:srgbClr val="D84315"/>
          </a:solidFill>
          <a:ln/>
        </p:spPr>
      </p:sp>
      <p:sp>
        <p:nvSpPr>
          <p:cNvPr id="15" name="Text 11"/>
          <p:cNvSpPr/>
          <p:nvPr/>
        </p:nvSpPr>
        <p:spPr>
          <a:xfrm>
            <a:off x="3200400" y="3794760"/>
            <a:ext cx="2743200"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Quiz Module</a:t>
            </a:r>
            <a:endParaRPr lang="en-US" sz="1050" dirty="0"/>
          </a:p>
        </p:txBody>
      </p:sp>
      <p:sp>
        <p:nvSpPr>
          <p:cNvPr id="16" name="Text 12"/>
          <p:cNvSpPr/>
          <p:nvPr/>
        </p:nvSpPr>
        <p:spPr>
          <a:xfrm>
            <a:off x="3246120" y="4096512"/>
            <a:ext cx="2651760" cy="502920"/>
          </a:xfrm>
          <a:prstGeom prst="rect">
            <a:avLst/>
          </a:prstGeom>
          <a:noFill/>
          <a:ln/>
        </p:spPr>
        <p:txBody>
          <a:bodyPr wrap="square" rtlCol="0" anchor="t"/>
          <a:lstStyle/>
          <a:p>
            <a:pPr algn="ctr" indent="0" marL="0">
              <a:buNone/>
            </a:pPr>
            <a:r>
              <a:rPr lang="en-US" sz="950" dirty="0">
                <a:solidFill>
                  <a:srgbClr val="546E7A"/>
                </a:solidFill>
                <a:latin typeface="Calibri" pitchFamily="34" charset="0"/>
                <a:ea typeface="Calibri" pitchFamily="34" charset="-122"/>
                <a:cs typeface="Calibri" pitchFamily="34" charset="-120"/>
              </a:rPr>
              <a:t>Interactive MCQ quiz to test students' environmental knowledge with instant feedback.</a:t>
            </a:r>
            <a:endParaRPr lang="en-US" sz="950" dirty="0"/>
          </a:p>
        </p:txBody>
      </p:sp>
      <p:sp>
        <p:nvSpPr>
          <p:cNvPr id="17" name="Shape 13"/>
          <p:cNvSpPr/>
          <p:nvPr/>
        </p:nvSpPr>
        <p:spPr>
          <a:xfrm>
            <a:off x="6172200" y="685800"/>
            <a:ext cx="2743200" cy="3108960"/>
          </a:xfrm>
          <a:prstGeom prst="rect">
            <a:avLst/>
          </a:prstGeom>
          <a:solidFill>
            <a:srgbClr val="ECEFF1"/>
          </a:solidFill>
          <a:ln/>
        </p:spPr>
      </p:sp>
      <p:pic>
        <p:nvPicPr>
          <p:cNvPr id="18" name="Image 2" descr="/mnt/user-data/uploads/WhatsApp_Image_2026-03-08_at_8_34_26_PM.jpeg">    </p:cNvPr>
          <p:cNvPicPr>
            <a:picLocks noChangeAspect="1"/>
          </p:cNvPicPr>
          <p:nvPr/>
        </p:nvPicPr>
        <p:blipFill>
          <a:blip r:embed="rId3"/>
          <a:srcRect l="0" r="0" t="0" b="0"/>
          <a:stretch/>
        </p:blipFill>
        <p:spPr>
          <a:xfrm>
            <a:off x="6172200" y="685800"/>
            <a:ext cx="2743200" cy="3108960"/>
          </a:xfrm>
          <a:prstGeom prst="rect">
            <a:avLst/>
          </a:prstGeom>
        </p:spPr>
      </p:pic>
      <p:sp>
        <p:nvSpPr>
          <p:cNvPr id="19" name="Shape 14"/>
          <p:cNvSpPr/>
          <p:nvPr/>
        </p:nvSpPr>
        <p:spPr>
          <a:xfrm>
            <a:off x="6172200" y="3794760"/>
            <a:ext cx="2743200" cy="292608"/>
          </a:xfrm>
          <a:prstGeom prst="rect">
            <a:avLst/>
          </a:prstGeom>
          <a:solidFill>
            <a:srgbClr val="1565C0"/>
          </a:solidFill>
          <a:ln/>
        </p:spPr>
      </p:sp>
      <p:sp>
        <p:nvSpPr>
          <p:cNvPr id="20" name="Text 15"/>
          <p:cNvSpPr/>
          <p:nvPr/>
        </p:nvSpPr>
        <p:spPr>
          <a:xfrm>
            <a:off x="6172200" y="3794760"/>
            <a:ext cx="2743200"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Video Learning Module</a:t>
            </a:r>
            <a:endParaRPr lang="en-US" sz="1050" dirty="0"/>
          </a:p>
        </p:txBody>
      </p:sp>
      <p:sp>
        <p:nvSpPr>
          <p:cNvPr id="21" name="Text 16"/>
          <p:cNvSpPr/>
          <p:nvPr/>
        </p:nvSpPr>
        <p:spPr>
          <a:xfrm>
            <a:off x="6217920" y="4096512"/>
            <a:ext cx="2651760" cy="502920"/>
          </a:xfrm>
          <a:prstGeom prst="rect">
            <a:avLst/>
          </a:prstGeom>
          <a:noFill/>
          <a:ln/>
        </p:spPr>
        <p:txBody>
          <a:bodyPr wrap="square" rtlCol="0" anchor="t"/>
          <a:lstStyle/>
          <a:p>
            <a:pPr algn="ctr" indent="0" marL="0">
              <a:buNone/>
            </a:pPr>
            <a:r>
              <a:rPr lang="en-US" sz="950" dirty="0">
                <a:solidFill>
                  <a:srgbClr val="546E7A"/>
                </a:solidFill>
                <a:latin typeface="Calibri" pitchFamily="34" charset="0"/>
                <a:ea typeface="Calibri" pitchFamily="34" charset="-122"/>
                <a:cs typeface="Calibri" pitchFamily="34" charset="-120"/>
              </a:rPr>
              <a:t>Environmental video that unlocks a related quiz after 80% viewing — learn then assess.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20</a:t>
            </a:r>
            <a:endParaRPr lang="en-US" sz="900" dirty="0"/>
          </a:p>
        </p:txBody>
      </p:sp>
      <p:sp>
        <p:nvSpPr>
          <p:cNvPr id="7" name="Text 5"/>
          <p:cNvSpPr/>
          <p:nvPr/>
        </p:nvSpPr>
        <p:spPr>
          <a:xfrm>
            <a:off x="365760" y="713232"/>
            <a:ext cx="8412480" cy="594360"/>
          </a:xfrm>
          <a:prstGeom prst="rect">
            <a:avLst/>
          </a:prstGeom>
          <a:noFill/>
          <a:ln/>
        </p:spPr>
        <p:txBody>
          <a:bodyPr wrap="square" rtlCol="0" anchor="ctr"/>
          <a:lstStyle/>
          <a:p>
            <a:pPr indent="0" marL="0">
              <a:buNone/>
            </a:pPr>
            <a:r>
              <a:rPr lang="en-US" sz="1300" dirty="0">
                <a:solidFill>
                  <a:srgbClr val="2D2D2D"/>
                </a:solidFill>
                <a:latin typeface="Calibri" pitchFamily="34" charset="0"/>
                <a:ea typeface="Calibri" pitchFamily="34" charset="-122"/>
                <a:cs typeface="Calibri" pitchFamily="34" charset="-120"/>
              </a:rPr>
              <a:t>EnviroLearn successfully addresses the gap in interactive environmental education by delivering a gamified, school-focused learning platform.</a:t>
            </a:r>
            <a:endParaRPr lang="en-US" sz="1300" dirty="0"/>
          </a:p>
        </p:txBody>
      </p:sp>
      <p:sp>
        <p:nvSpPr>
          <p:cNvPr id="8" name="Shape 6"/>
          <p:cNvSpPr/>
          <p:nvPr/>
        </p:nvSpPr>
        <p:spPr>
          <a:xfrm>
            <a:off x="274320" y="1417320"/>
            <a:ext cx="411480" cy="411480"/>
          </a:xfrm>
          <a:prstGeom prst="rect">
            <a:avLst/>
          </a:prstGeom>
          <a:solidFill>
            <a:srgbClr val="1B5E20"/>
          </a:solidFill>
          <a:ln/>
        </p:spPr>
      </p:sp>
      <p:sp>
        <p:nvSpPr>
          <p:cNvPr id="9" name="Text 7"/>
          <p:cNvSpPr/>
          <p:nvPr/>
        </p:nvSpPr>
        <p:spPr>
          <a:xfrm>
            <a:off x="274320" y="1417320"/>
            <a:ext cx="411480" cy="41148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0" name="Text 8"/>
          <p:cNvSpPr/>
          <p:nvPr/>
        </p:nvSpPr>
        <p:spPr>
          <a:xfrm>
            <a:off x="822960" y="1435608"/>
            <a:ext cx="8046720" cy="502920"/>
          </a:xfrm>
          <a:prstGeom prst="rect">
            <a:avLst/>
          </a:prstGeom>
          <a:noFill/>
          <a:ln/>
        </p:spPr>
        <p:txBody>
          <a:bodyPr wrap="square" rtlCol="0" anchor="ctr"/>
          <a:lstStyle/>
          <a:p>
            <a:pPr indent="0" marL="0">
              <a:buNone/>
            </a:pPr>
            <a:r>
              <a:rPr lang="en-US" sz="1250" dirty="0">
                <a:solidFill>
                  <a:srgbClr val="2D2D2D"/>
                </a:solidFill>
                <a:latin typeface="Calibri" pitchFamily="34" charset="0"/>
                <a:ea typeface="Calibri" pitchFamily="34" charset="-122"/>
                <a:cs typeface="Calibri" pitchFamily="34" charset="-120"/>
              </a:rPr>
              <a:t>Educational games, videos, quizzes, and challenges make environmental learning interactive and engaging for school students.</a:t>
            </a:r>
            <a:endParaRPr lang="en-US" sz="1250" dirty="0"/>
          </a:p>
        </p:txBody>
      </p:sp>
      <p:sp>
        <p:nvSpPr>
          <p:cNvPr id="11" name="Shape 9"/>
          <p:cNvSpPr/>
          <p:nvPr/>
        </p:nvSpPr>
        <p:spPr>
          <a:xfrm>
            <a:off x="274320" y="2075688"/>
            <a:ext cx="411480" cy="411480"/>
          </a:xfrm>
          <a:prstGeom prst="rect">
            <a:avLst/>
          </a:prstGeom>
          <a:solidFill>
            <a:srgbClr val="00695C"/>
          </a:solidFill>
          <a:ln/>
        </p:spPr>
      </p:sp>
      <p:sp>
        <p:nvSpPr>
          <p:cNvPr id="12" name="Text 10"/>
          <p:cNvSpPr/>
          <p:nvPr/>
        </p:nvSpPr>
        <p:spPr>
          <a:xfrm>
            <a:off x="274320" y="2075688"/>
            <a:ext cx="411480" cy="41148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3" name="Text 11"/>
          <p:cNvSpPr/>
          <p:nvPr/>
        </p:nvSpPr>
        <p:spPr>
          <a:xfrm>
            <a:off x="822960" y="2093976"/>
            <a:ext cx="8046720" cy="502920"/>
          </a:xfrm>
          <a:prstGeom prst="rect">
            <a:avLst/>
          </a:prstGeom>
          <a:noFill/>
          <a:ln/>
        </p:spPr>
        <p:txBody>
          <a:bodyPr wrap="square" rtlCol="0" anchor="ctr"/>
          <a:lstStyle/>
          <a:p>
            <a:pPr indent="0" marL="0">
              <a:buNone/>
            </a:pPr>
            <a:r>
              <a:rPr lang="en-US" sz="1250" dirty="0">
                <a:solidFill>
                  <a:srgbClr val="2D2D2D"/>
                </a:solidFill>
                <a:latin typeface="Calibri" pitchFamily="34" charset="0"/>
                <a:ea typeface="Calibri" pitchFamily="34" charset="-122"/>
                <a:cs typeface="Calibri" pitchFamily="34" charset="-120"/>
              </a:rPr>
              <a:t>Points, badges, and leaderboards motivate students through gamification, improving participation and environmental awareness.</a:t>
            </a:r>
            <a:endParaRPr lang="en-US" sz="1250" dirty="0"/>
          </a:p>
        </p:txBody>
      </p:sp>
      <p:sp>
        <p:nvSpPr>
          <p:cNvPr id="14" name="Shape 12"/>
          <p:cNvSpPr/>
          <p:nvPr/>
        </p:nvSpPr>
        <p:spPr>
          <a:xfrm>
            <a:off x="274320" y="2734056"/>
            <a:ext cx="411480" cy="411480"/>
          </a:xfrm>
          <a:prstGeom prst="rect">
            <a:avLst/>
          </a:prstGeom>
          <a:solidFill>
            <a:srgbClr val="1B5E20"/>
          </a:solidFill>
          <a:ln/>
        </p:spPr>
      </p:sp>
      <p:sp>
        <p:nvSpPr>
          <p:cNvPr id="15" name="Text 13"/>
          <p:cNvSpPr/>
          <p:nvPr/>
        </p:nvSpPr>
        <p:spPr>
          <a:xfrm>
            <a:off x="274320" y="2734056"/>
            <a:ext cx="411480" cy="41148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6" name="Text 14"/>
          <p:cNvSpPr/>
          <p:nvPr/>
        </p:nvSpPr>
        <p:spPr>
          <a:xfrm>
            <a:off x="822960" y="2752344"/>
            <a:ext cx="8046720" cy="502920"/>
          </a:xfrm>
          <a:prstGeom prst="rect">
            <a:avLst/>
          </a:prstGeom>
          <a:noFill/>
          <a:ln/>
        </p:spPr>
        <p:txBody>
          <a:bodyPr wrap="square" rtlCol="0" anchor="ctr"/>
          <a:lstStyle/>
          <a:p>
            <a:pPr indent="0" marL="0">
              <a:buNone/>
            </a:pPr>
            <a:r>
              <a:rPr lang="en-US" sz="1250" dirty="0">
                <a:solidFill>
                  <a:srgbClr val="2D2D2D"/>
                </a:solidFill>
                <a:latin typeface="Calibri" pitchFamily="34" charset="0"/>
                <a:ea typeface="Calibri" pitchFamily="34" charset="-122"/>
                <a:cs typeface="Calibri" pitchFamily="34" charset="-120"/>
              </a:rPr>
              <a:t>The teacher dashboard provides real-time analytics on student performance, enabling data-driven teaching.</a:t>
            </a:r>
            <a:endParaRPr lang="en-US" sz="1250" dirty="0"/>
          </a:p>
        </p:txBody>
      </p:sp>
      <p:sp>
        <p:nvSpPr>
          <p:cNvPr id="17" name="Shape 15"/>
          <p:cNvSpPr/>
          <p:nvPr/>
        </p:nvSpPr>
        <p:spPr>
          <a:xfrm>
            <a:off x="274320" y="3392424"/>
            <a:ext cx="411480" cy="411480"/>
          </a:xfrm>
          <a:prstGeom prst="rect">
            <a:avLst/>
          </a:prstGeom>
          <a:solidFill>
            <a:srgbClr val="00695C"/>
          </a:solidFill>
          <a:ln/>
        </p:spPr>
      </p:sp>
      <p:sp>
        <p:nvSpPr>
          <p:cNvPr id="18" name="Text 16"/>
          <p:cNvSpPr/>
          <p:nvPr/>
        </p:nvSpPr>
        <p:spPr>
          <a:xfrm>
            <a:off x="274320" y="3392424"/>
            <a:ext cx="411480" cy="41148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9" name="Text 17"/>
          <p:cNvSpPr/>
          <p:nvPr/>
        </p:nvSpPr>
        <p:spPr>
          <a:xfrm>
            <a:off x="822960" y="3410712"/>
            <a:ext cx="8046720" cy="502920"/>
          </a:xfrm>
          <a:prstGeom prst="rect">
            <a:avLst/>
          </a:prstGeom>
          <a:noFill/>
          <a:ln/>
        </p:spPr>
        <p:txBody>
          <a:bodyPr wrap="square" rtlCol="0" anchor="ctr"/>
          <a:lstStyle/>
          <a:p>
            <a:pPr indent="0" marL="0">
              <a:buNone/>
            </a:pPr>
            <a:r>
              <a:rPr lang="en-US" sz="1250" dirty="0">
                <a:solidFill>
                  <a:srgbClr val="2D2D2D"/>
                </a:solidFill>
                <a:latin typeface="Calibri" pitchFamily="34" charset="0"/>
                <a:ea typeface="Calibri" pitchFamily="34" charset="-122"/>
                <a:cs typeface="Calibri" pitchFamily="34" charset="-120"/>
              </a:rPr>
              <a:t>Built with Flask, SQLite, HTML/CSS/JS — a scalable and maintainable architecture suitable for future expansion.</a:t>
            </a:r>
            <a:endParaRPr lang="en-US" sz="1250" dirty="0"/>
          </a:p>
        </p:txBody>
      </p:sp>
      <p:sp>
        <p:nvSpPr>
          <p:cNvPr id="20" name="Shape 18"/>
          <p:cNvSpPr/>
          <p:nvPr/>
        </p:nvSpPr>
        <p:spPr>
          <a:xfrm>
            <a:off x="274320" y="4050792"/>
            <a:ext cx="411480" cy="411480"/>
          </a:xfrm>
          <a:prstGeom prst="rect">
            <a:avLst/>
          </a:prstGeom>
          <a:solidFill>
            <a:srgbClr val="1B5E20"/>
          </a:solidFill>
          <a:ln/>
        </p:spPr>
      </p:sp>
      <p:sp>
        <p:nvSpPr>
          <p:cNvPr id="21" name="Text 19"/>
          <p:cNvSpPr/>
          <p:nvPr/>
        </p:nvSpPr>
        <p:spPr>
          <a:xfrm>
            <a:off x="274320" y="4050792"/>
            <a:ext cx="411480" cy="41148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2" name="Text 20"/>
          <p:cNvSpPr/>
          <p:nvPr/>
        </p:nvSpPr>
        <p:spPr>
          <a:xfrm>
            <a:off x="822960" y="4069080"/>
            <a:ext cx="8046720" cy="502920"/>
          </a:xfrm>
          <a:prstGeom prst="rect">
            <a:avLst/>
          </a:prstGeom>
          <a:noFill/>
          <a:ln/>
        </p:spPr>
        <p:txBody>
          <a:bodyPr wrap="square" rtlCol="0" anchor="ctr"/>
          <a:lstStyle/>
          <a:p>
            <a:pPr indent="0" marL="0">
              <a:buNone/>
            </a:pPr>
            <a:r>
              <a:rPr lang="en-US" sz="1250" dirty="0">
                <a:solidFill>
                  <a:srgbClr val="2D2D2D"/>
                </a:solidFill>
                <a:latin typeface="Calibri" pitchFamily="34" charset="0"/>
                <a:ea typeface="Calibri" pitchFamily="34" charset="-122"/>
                <a:cs typeface="Calibri" pitchFamily="34" charset="-120"/>
              </a:rPr>
              <a:t>The platform bridges the gap identified in literature by targeting school-level learners with curriculum-aligned environmental content.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FUTURE SCOPE</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274320" y="749808"/>
            <a:ext cx="2743200" cy="1828800"/>
          </a:xfrm>
          <a:prstGeom prst="rect">
            <a:avLst/>
          </a:prstGeom>
          <a:solidFill>
            <a:srgbClr val="F1F8E9"/>
          </a:solidFill>
          <a:ln/>
          <a:effectLst>
            <a:outerShdw sx="100000" sy="100000" kx="0" ky="0" algn="bl" rotWithShape="0" blurRad="63500" dist="25400" dir="16200000">
              <a:srgbClr val="000000">
                <a:alpha val="10000"/>
              </a:srgbClr>
            </a:outerShdw>
          </a:effectLst>
        </p:spPr>
      </p:sp>
      <p:sp>
        <p:nvSpPr>
          <p:cNvPr id="8" name="Shape 6"/>
          <p:cNvSpPr/>
          <p:nvPr/>
        </p:nvSpPr>
        <p:spPr>
          <a:xfrm>
            <a:off x="274320" y="749808"/>
            <a:ext cx="2743200" cy="73152"/>
          </a:xfrm>
          <a:prstGeom prst="rect">
            <a:avLst/>
          </a:prstGeom>
          <a:solidFill>
            <a:srgbClr val="1B5E20"/>
          </a:solidFill>
          <a:ln/>
        </p:spPr>
      </p:sp>
      <p:sp>
        <p:nvSpPr>
          <p:cNvPr id="9" name="Text 7"/>
          <p:cNvSpPr/>
          <p:nvPr/>
        </p:nvSpPr>
        <p:spPr>
          <a:xfrm>
            <a:off x="274320" y="841248"/>
            <a:ext cx="27432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274320" y="1408176"/>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Mobile App</a:t>
            </a:r>
            <a:endParaRPr lang="en-US" sz="1300" dirty="0"/>
          </a:p>
        </p:txBody>
      </p:sp>
      <p:sp>
        <p:nvSpPr>
          <p:cNvPr id="11" name="Text 9"/>
          <p:cNvSpPr/>
          <p:nvPr/>
        </p:nvSpPr>
        <p:spPr>
          <a:xfrm>
            <a:off x="411480" y="1755648"/>
            <a:ext cx="2468880" cy="777240"/>
          </a:xfrm>
          <a:prstGeom prst="rect">
            <a:avLst/>
          </a:prstGeom>
          <a:noFill/>
          <a:ln/>
        </p:spPr>
        <p:txBody>
          <a:bodyPr wrap="square" rtlCol="0" anchor="t"/>
          <a:lstStyle/>
          <a:p>
            <a:pPr algn="ctr" indent="0" marL="0">
              <a:buNone/>
            </a:pPr>
            <a:r>
              <a:rPr lang="en-US" sz="1100" dirty="0">
                <a:solidFill>
                  <a:srgbClr val="2D2D2D"/>
                </a:solidFill>
                <a:latin typeface="Calibri" pitchFamily="34" charset="0"/>
                <a:ea typeface="Calibri" pitchFamily="34" charset="-122"/>
                <a:cs typeface="Calibri" pitchFamily="34" charset="-120"/>
              </a:rPr>
              <a:t>Develop native Android/iOS apps for wider accessibility.</a:t>
            </a:r>
            <a:endParaRPr lang="en-US" sz="1100" dirty="0"/>
          </a:p>
        </p:txBody>
      </p:sp>
      <p:sp>
        <p:nvSpPr>
          <p:cNvPr id="12" name="Shape 10"/>
          <p:cNvSpPr/>
          <p:nvPr/>
        </p:nvSpPr>
        <p:spPr>
          <a:xfrm>
            <a:off x="3200400" y="749808"/>
            <a:ext cx="2743200" cy="1828800"/>
          </a:xfrm>
          <a:prstGeom prst="rect">
            <a:avLst/>
          </a:prstGeom>
          <a:solidFill>
            <a:srgbClr val="F1F8E9"/>
          </a:solidFill>
          <a:ln/>
          <a:effectLst>
            <a:outerShdw sx="100000" sy="100000" kx="0" ky="0" algn="bl" rotWithShape="0" blurRad="63500" dist="25400" dir="16200000">
              <a:srgbClr val="000000">
                <a:alpha val="10000"/>
              </a:srgbClr>
            </a:outerShdw>
          </a:effectLst>
        </p:spPr>
      </p:sp>
      <p:sp>
        <p:nvSpPr>
          <p:cNvPr id="13" name="Shape 11"/>
          <p:cNvSpPr/>
          <p:nvPr/>
        </p:nvSpPr>
        <p:spPr>
          <a:xfrm>
            <a:off x="3200400" y="749808"/>
            <a:ext cx="2743200" cy="73152"/>
          </a:xfrm>
          <a:prstGeom prst="rect">
            <a:avLst/>
          </a:prstGeom>
          <a:solidFill>
            <a:srgbClr val="1B5E20"/>
          </a:solidFill>
          <a:ln/>
        </p:spPr>
      </p:sp>
      <p:sp>
        <p:nvSpPr>
          <p:cNvPr id="14" name="Text 12"/>
          <p:cNvSpPr/>
          <p:nvPr/>
        </p:nvSpPr>
        <p:spPr>
          <a:xfrm>
            <a:off x="3200400" y="841248"/>
            <a:ext cx="27432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3200400" y="1408176"/>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AI Quiz Generation</a:t>
            </a:r>
            <a:endParaRPr lang="en-US" sz="1300" dirty="0"/>
          </a:p>
        </p:txBody>
      </p:sp>
      <p:sp>
        <p:nvSpPr>
          <p:cNvPr id="16" name="Text 14"/>
          <p:cNvSpPr/>
          <p:nvPr/>
        </p:nvSpPr>
        <p:spPr>
          <a:xfrm>
            <a:off x="3337560" y="1755648"/>
            <a:ext cx="2468880" cy="777240"/>
          </a:xfrm>
          <a:prstGeom prst="rect">
            <a:avLst/>
          </a:prstGeom>
          <a:noFill/>
          <a:ln/>
        </p:spPr>
        <p:txBody>
          <a:bodyPr wrap="square" rtlCol="0" anchor="t"/>
          <a:lstStyle/>
          <a:p>
            <a:pPr algn="ctr" indent="0" marL="0">
              <a:buNone/>
            </a:pPr>
            <a:r>
              <a:rPr lang="en-US" sz="1100" dirty="0">
                <a:solidFill>
                  <a:srgbClr val="2D2D2D"/>
                </a:solidFill>
                <a:latin typeface="Calibri" pitchFamily="34" charset="0"/>
                <a:ea typeface="Calibri" pitchFamily="34" charset="-122"/>
                <a:cs typeface="Calibri" pitchFamily="34" charset="-120"/>
              </a:rPr>
              <a:t>Use AI to auto-generate quiz questions from video content.</a:t>
            </a:r>
            <a:endParaRPr lang="en-US" sz="1100" dirty="0"/>
          </a:p>
        </p:txBody>
      </p:sp>
      <p:sp>
        <p:nvSpPr>
          <p:cNvPr id="17" name="Shape 15"/>
          <p:cNvSpPr/>
          <p:nvPr/>
        </p:nvSpPr>
        <p:spPr>
          <a:xfrm>
            <a:off x="6126480" y="749808"/>
            <a:ext cx="2743200" cy="1828800"/>
          </a:xfrm>
          <a:prstGeom prst="rect">
            <a:avLst/>
          </a:prstGeom>
          <a:solidFill>
            <a:srgbClr val="F1F8E9"/>
          </a:solidFill>
          <a:ln/>
          <a:effectLst>
            <a:outerShdw sx="100000" sy="100000" kx="0" ky="0" algn="bl" rotWithShape="0" blurRad="63500" dist="25400" dir="16200000">
              <a:srgbClr val="000000">
                <a:alpha val="10000"/>
              </a:srgbClr>
            </a:outerShdw>
          </a:effectLst>
        </p:spPr>
      </p:sp>
      <p:sp>
        <p:nvSpPr>
          <p:cNvPr id="18" name="Shape 16"/>
          <p:cNvSpPr/>
          <p:nvPr/>
        </p:nvSpPr>
        <p:spPr>
          <a:xfrm>
            <a:off x="6126480" y="749808"/>
            <a:ext cx="2743200" cy="73152"/>
          </a:xfrm>
          <a:prstGeom prst="rect">
            <a:avLst/>
          </a:prstGeom>
          <a:solidFill>
            <a:srgbClr val="1B5E20"/>
          </a:solidFill>
          <a:ln/>
        </p:spPr>
      </p:sp>
      <p:sp>
        <p:nvSpPr>
          <p:cNvPr id="19" name="Text 17"/>
          <p:cNvSpPr/>
          <p:nvPr/>
        </p:nvSpPr>
        <p:spPr>
          <a:xfrm>
            <a:off x="6126480" y="841248"/>
            <a:ext cx="27432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0" name="Text 18"/>
          <p:cNvSpPr/>
          <p:nvPr/>
        </p:nvSpPr>
        <p:spPr>
          <a:xfrm>
            <a:off x="6126480" y="1408176"/>
            <a:ext cx="2743200" cy="32004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Multilingual Support</a:t>
            </a:r>
            <a:endParaRPr lang="en-US" sz="1300" dirty="0"/>
          </a:p>
        </p:txBody>
      </p:sp>
      <p:sp>
        <p:nvSpPr>
          <p:cNvPr id="21" name="Text 19"/>
          <p:cNvSpPr/>
          <p:nvPr/>
        </p:nvSpPr>
        <p:spPr>
          <a:xfrm>
            <a:off x="6263640" y="1755648"/>
            <a:ext cx="2468880" cy="777240"/>
          </a:xfrm>
          <a:prstGeom prst="rect">
            <a:avLst/>
          </a:prstGeom>
          <a:noFill/>
          <a:ln/>
        </p:spPr>
        <p:txBody>
          <a:bodyPr wrap="square" rtlCol="0" anchor="t"/>
          <a:lstStyle/>
          <a:p>
            <a:pPr algn="ctr" indent="0" marL="0">
              <a:buNone/>
            </a:pPr>
            <a:r>
              <a:rPr lang="en-US" sz="1100" dirty="0">
                <a:solidFill>
                  <a:srgbClr val="2D2D2D"/>
                </a:solidFill>
                <a:latin typeface="Calibri" pitchFamily="34" charset="0"/>
                <a:ea typeface="Calibri" pitchFamily="34" charset="-122"/>
                <a:cs typeface="Calibri" pitchFamily="34" charset="-120"/>
              </a:rPr>
              <a:t>Add regional language support for inclusivity across India.</a:t>
            </a:r>
            <a:endParaRPr lang="en-US" sz="1100" dirty="0"/>
          </a:p>
        </p:txBody>
      </p:sp>
      <p:sp>
        <p:nvSpPr>
          <p:cNvPr id="22" name="Shape 20"/>
          <p:cNvSpPr/>
          <p:nvPr/>
        </p:nvSpPr>
        <p:spPr>
          <a:xfrm>
            <a:off x="274320" y="2761488"/>
            <a:ext cx="2743200" cy="1828800"/>
          </a:xfrm>
          <a:prstGeom prst="rect">
            <a:avLst/>
          </a:prstGeom>
          <a:solidFill>
            <a:srgbClr val="E8EAF6"/>
          </a:solidFill>
          <a:ln/>
          <a:effectLst>
            <a:outerShdw sx="100000" sy="100000" kx="0" ky="0" algn="bl" rotWithShape="0" blurRad="63500" dist="25400" dir="16200000">
              <a:srgbClr val="000000">
                <a:alpha val="10000"/>
              </a:srgbClr>
            </a:outerShdw>
          </a:effectLst>
        </p:spPr>
      </p:sp>
      <p:sp>
        <p:nvSpPr>
          <p:cNvPr id="23" name="Shape 21"/>
          <p:cNvSpPr/>
          <p:nvPr/>
        </p:nvSpPr>
        <p:spPr>
          <a:xfrm>
            <a:off x="274320" y="2761488"/>
            <a:ext cx="2743200" cy="73152"/>
          </a:xfrm>
          <a:prstGeom prst="rect">
            <a:avLst/>
          </a:prstGeom>
          <a:solidFill>
            <a:srgbClr val="3949AB"/>
          </a:solidFill>
          <a:ln/>
        </p:spPr>
      </p:sp>
      <p:sp>
        <p:nvSpPr>
          <p:cNvPr id="24" name="Text 22"/>
          <p:cNvSpPr/>
          <p:nvPr/>
        </p:nvSpPr>
        <p:spPr>
          <a:xfrm>
            <a:off x="274320" y="2852928"/>
            <a:ext cx="27432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5" name="Text 23"/>
          <p:cNvSpPr/>
          <p:nvPr/>
        </p:nvSpPr>
        <p:spPr>
          <a:xfrm>
            <a:off x="274320" y="3419856"/>
            <a:ext cx="2743200" cy="320040"/>
          </a:xfrm>
          <a:prstGeom prst="rect">
            <a:avLst/>
          </a:prstGeom>
          <a:noFill/>
          <a:ln/>
        </p:spPr>
        <p:txBody>
          <a:bodyPr wrap="square" rtlCol="0" anchor="ctr"/>
          <a:lstStyle/>
          <a:p>
            <a:pPr algn="ctr" indent="0" marL="0">
              <a:buNone/>
            </a:pPr>
            <a:r>
              <a:rPr lang="en-US" sz="1300" b="1" dirty="0">
                <a:solidFill>
                  <a:srgbClr val="3949AB"/>
                </a:solidFill>
                <a:latin typeface="Calibri" pitchFamily="34" charset="0"/>
                <a:ea typeface="Calibri" pitchFamily="34" charset="-122"/>
                <a:cs typeface="Calibri" pitchFamily="34" charset="-120"/>
              </a:rPr>
              <a:t>Parent Dashboard</a:t>
            </a:r>
            <a:endParaRPr lang="en-US" sz="1300" dirty="0"/>
          </a:p>
        </p:txBody>
      </p:sp>
      <p:sp>
        <p:nvSpPr>
          <p:cNvPr id="26" name="Text 24"/>
          <p:cNvSpPr/>
          <p:nvPr/>
        </p:nvSpPr>
        <p:spPr>
          <a:xfrm>
            <a:off x="411480" y="3767328"/>
            <a:ext cx="2468880" cy="777240"/>
          </a:xfrm>
          <a:prstGeom prst="rect">
            <a:avLst/>
          </a:prstGeom>
          <a:noFill/>
          <a:ln/>
        </p:spPr>
        <p:txBody>
          <a:bodyPr wrap="square" rtlCol="0" anchor="t"/>
          <a:lstStyle/>
          <a:p>
            <a:pPr algn="ctr" indent="0" marL="0">
              <a:buNone/>
            </a:pPr>
            <a:r>
              <a:rPr lang="en-US" sz="1100" dirty="0">
                <a:solidFill>
                  <a:srgbClr val="2D2D2D"/>
                </a:solidFill>
                <a:latin typeface="Calibri" pitchFamily="34" charset="0"/>
                <a:ea typeface="Calibri" pitchFamily="34" charset="-122"/>
                <a:cs typeface="Calibri" pitchFamily="34" charset="-120"/>
              </a:rPr>
              <a:t>Allow parents to track their child's learning progress.</a:t>
            </a:r>
            <a:endParaRPr lang="en-US" sz="1100" dirty="0"/>
          </a:p>
        </p:txBody>
      </p:sp>
      <p:sp>
        <p:nvSpPr>
          <p:cNvPr id="27" name="Shape 25"/>
          <p:cNvSpPr/>
          <p:nvPr/>
        </p:nvSpPr>
        <p:spPr>
          <a:xfrm>
            <a:off x="3200400" y="2761488"/>
            <a:ext cx="2743200" cy="1828800"/>
          </a:xfrm>
          <a:prstGeom prst="rect">
            <a:avLst/>
          </a:prstGeom>
          <a:solidFill>
            <a:srgbClr val="E8EAF6"/>
          </a:solidFill>
          <a:ln/>
          <a:effectLst>
            <a:outerShdw sx="100000" sy="100000" kx="0" ky="0" algn="bl" rotWithShape="0" blurRad="63500" dist="25400" dir="16200000">
              <a:srgbClr val="000000">
                <a:alpha val="10000"/>
              </a:srgbClr>
            </a:outerShdw>
          </a:effectLst>
        </p:spPr>
      </p:sp>
      <p:sp>
        <p:nvSpPr>
          <p:cNvPr id="28" name="Shape 26"/>
          <p:cNvSpPr/>
          <p:nvPr/>
        </p:nvSpPr>
        <p:spPr>
          <a:xfrm>
            <a:off x="3200400" y="2761488"/>
            <a:ext cx="2743200" cy="73152"/>
          </a:xfrm>
          <a:prstGeom prst="rect">
            <a:avLst/>
          </a:prstGeom>
          <a:solidFill>
            <a:srgbClr val="3949AB"/>
          </a:solidFill>
          <a:ln/>
        </p:spPr>
      </p:sp>
      <p:sp>
        <p:nvSpPr>
          <p:cNvPr id="29" name="Text 27"/>
          <p:cNvSpPr/>
          <p:nvPr/>
        </p:nvSpPr>
        <p:spPr>
          <a:xfrm>
            <a:off x="3200400" y="2852928"/>
            <a:ext cx="27432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0" name="Text 28"/>
          <p:cNvSpPr/>
          <p:nvPr/>
        </p:nvSpPr>
        <p:spPr>
          <a:xfrm>
            <a:off x="3200400" y="3419856"/>
            <a:ext cx="2743200" cy="320040"/>
          </a:xfrm>
          <a:prstGeom prst="rect">
            <a:avLst/>
          </a:prstGeom>
          <a:noFill/>
          <a:ln/>
        </p:spPr>
        <p:txBody>
          <a:bodyPr wrap="square" rtlCol="0" anchor="ctr"/>
          <a:lstStyle/>
          <a:p>
            <a:pPr algn="ctr" indent="0" marL="0">
              <a:buNone/>
            </a:pPr>
            <a:r>
              <a:rPr lang="en-US" sz="1300" b="1" dirty="0">
                <a:solidFill>
                  <a:srgbClr val="3949AB"/>
                </a:solidFill>
                <a:latin typeface="Calibri" pitchFamily="34" charset="0"/>
                <a:ea typeface="Calibri" pitchFamily="34" charset="-122"/>
                <a:cs typeface="Calibri" pitchFamily="34" charset="-120"/>
              </a:rPr>
              <a:t>Curriculum Integration</a:t>
            </a:r>
            <a:endParaRPr lang="en-US" sz="1300" dirty="0"/>
          </a:p>
        </p:txBody>
      </p:sp>
      <p:sp>
        <p:nvSpPr>
          <p:cNvPr id="31" name="Text 29"/>
          <p:cNvSpPr/>
          <p:nvPr/>
        </p:nvSpPr>
        <p:spPr>
          <a:xfrm>
            <a:off x="3337560" y="3767328"/>
            <a:ext cx="2468880" cy="777240"/>
          </a:xfrm>
          <a:prstGeom prst="rect">
            <a:avLst/>
          </a:prstGeom>
          <a:noFill/>
          <a:ln/>
        </p:spPr>
        <p:txBody>
          <a:bodyPr wrap="square" rtlCol="0" anchor="t"/>
          <a:lstStyle/>
          <a:p>
            <a:pPr algn="ctr" indent="0" marL="0">
              <a:buNone/>
            </a:pPr>
            <a:r>
              <a:rPr lang="en-US" sz="1100" dirty="0">
                <a:solidFill>
                  <a:srgbClr val="2D2D2D"/>
                </a:solidFill>
                <a:latin typeface="Calibri" pitchFamily="34" charset="0"/>
                <a:ea typeface="Calibri" pitchFamily="34" charset="-122"/>
                <a:cs typeface="Calibri" pitchFamily="34" charset="-120"/>
              </a:rPr>
              <a:t>Align content with CBSE/State board environmental syllabi.</a:t>
            </a:r>
            <a:endParaRPr lang="en-US" sz="1100" dirty="0"/>
          </a:p>
        </p:txBody>
      </p:sp>
      <p:sp>
        <p:nvSpPr>
          <p:cNvPr id="32" name="Shape 30"/>
          <p:cNvSpPr/>
          <p:nvPr/>
        </p:nvSpPr>
        <p:spPr>
          <a:xfrm>
            <a:off x="6126480" y="2761488"/>
            <a:ext cx="2743200" cy="1828800"/>
          </a:xfrm>
          <a:prstGeom prst="rect">
            <a:avLst/>
          </a:prstGeom>
          <a:solidFill>
            <a:srgbClr val="E8EAF6"/>
          </a:solidFill>
          <a:ln/>
          <a:effectLst>
            <a:outerShdw sx="100000" sy="100000" kx="0" ky="0" algn="bl" rotWithShape="0" blurRad="63500" dist="25400" dir="16200000">
              <a:srgbClr val="000000">
                <a:alpha val="10000"/>
              </a:srgbClr>
            </a:outerShdw>
          </a:effectLst>
        </p:spPr>
      </p:sp>
      <p:sp>
        <p:nvSpPr>
          <p:cNvPr id="33" name="Shape 31"/>
          <p:cNvSpPr/>
          <p:nvPr/>
        </p:nvSpPr>
        <p:spPr>
          <a:xfrm>
            <a:off x="6126480" y="2761488"/>
            <a:ext cx="2743200" cy="73152"/>
          </a:xfrm>
          <a:prstGeom prst="rect">
            <a:avLst/>
          </a:prstGeom>
          <a:solidFill>
            <a:srgbClr val="3949AB"/>
          </a:solidFill>
          <a:ln/>
        </p:spPr>
      </p:sp>
      <p:sp>
        <p:nvSpPr>
          <p:cNvPr id="34" name="Text 32"/>
          <p:cNvSpPr/>
          <p:nvPr/>
        </p:nvSpPr>
        <p:spPr>
          <a:xfrm>
            <a:off x="6126480" y="2852928"/>
            <a:ext cx="27432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5" name="Text 33"/>
          <p:cNvSpPr/>
          <p:nvPr/>
        </p:nvSpPr>
        <p:spPr>
          <a:xfrm>
            <a:off x="6126480" y="3419856"/>
            <a:ext cx="2743200" cy="320040"/>
          </a:xfrm>
          <a:prstGeom prst="rect">
            <a:avLst/>
          </a:prstGeom>
          <a:noFill/>
          <a:ln/>
        </p:spPr>
        <p:txBody>
          <a:bodyPr wrap="square" rtlCol="0" anchor="ctr"/>
          <a:lstStyle/>
          <a:p>
            <a:pPr algn="ctr" indent="0" marL="0">
              <a:buNone/>
            </a:pPr>
            <a:r>
              <a:rPr lang="en-US" sz="1300" b="1" dirty="0">
                <a:solidFill>
                  <a:srgbClr val="3949AB"/>
                </a:solidFill>
                <a:latin typeface="Calibri" pitchFamily="34" charset="0"/>
                <a:ea typeface="Calibri" pitchFamily="34" charset="-122"/>
                <a:cs typeface="Calibri" pitchFamily="34" charset="-120"/>
              </a:rPr>
              <a:t>Advanced Analytics</a:t>
            </a:r>
            <a:endParaRPr lang="en-US" sz="1300" dirty="0"/>
          </a:p>
        </p:txBody>
      </p:sp>
      <p:sp>
        <p:nvSpPr>
          <p:cNvPr id="36" name="Text 34"/>
          <p:cNvSpPr/>
          <p:nvPr/>
        </p:nvSpPr>
        <p:spPr>
          <a:xfrm>
            <a:off x="6263640" y="3767328"/>
            <a:ext cx="2468880" cy="777240"/>
          </a:xfrm>
          <a:prstGeom prst="rect">
            <a:avLst/>
          </a:prstGeom>
          <a:noFill/>
          <a:ln/>
        </p:spPr>
        <p:txBody>
          <a:bodyPr wrap="square" rtlCol="0" anchor="t"/>
          <a:lstStyle/>
          <a:p>
            <a:pPr algn="ctr" indent="0" marL="0">
              <a:buNone/>
            </a:pPr>
            <a:r>
              <a:rPr lang="en-US" sz="1100" dirty="0">
                <a:solidFill>
                  <a:srgbClr val="2D2D2D"/>
                </a:solidFill>
                <a:latin typeface="Calibri" pitchFamily="34" charset="0"/>
                <a:ea typeface="Calibri" pitchFamily="34" charset="-122"/>
                <a:cs typeface="Calibri" pitchFamily="34" charset="-120"/>
              </a:rPr>
              <a:t>AI-driven insights on student performance trends and weak areas.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5E20"/>
          </a:solidFill>
          <a:ln/>
        </p:spPr>
      </p:sp>
      <p:sp>
        <p:nvSpPr>
          <p:cNvPr id="3" name="Text 1"/>
          <p:cNvSpPr/>
          <p:nvPr/>
        </p:nvSpPr>
        <p:spPr>
          <a:xfrm>
            <a:off x="320040" y="0"/>
            <a:ext cx="85039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REFERENCES</a:t>
            </a:r>
            <a:endParaRPr lang="en-US" sz="2200" dirty="0"/>
          </a:p>
        </p:txBody>
      </p:sp>
      <p:sp>
        <p:nvSpPr>
          <p:cNvPr id="4" name="Shape 2"/>
          <p:cNvSpPr/>
          <p:nvPr/>
        </p:nvSpPr>
        <p:spPr>
          <a:xfrm>
            <a:off x="0" y="4892040"/>
            <a:ext cx="9144000" cy="251460"/>
          </a:xfrm>
          <a:prstGeom prst="rect">
            <a:avLst/>
          </a:prstGeom>
          <a:solidFill>
            <a:srgbClr val="F1F8E9"/>
          </a:solidFill>
          <a:ln/>
        </p:spPr>
      </p:sp>
      <p:sp>
        <p:nvSpPr>
          <p:cNvPr id="5" name="Text 3"/>
          <p:cNvSpPr/>
          <p:nvPr/>
        </p:nvSpPr>
        <p:spPr>
          <a:xfrm>
            <a:off x="274320" y="4892040"/>
            <a:ext cx="6400800" cy="25146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EnviroLearn — A Gamified Environmental Education Platform</a:t>
            </a:r>
            <a:endParaRPr lang="en-US" sz="900" dirty="0"/>
          </a:p>
        </p:txBody>
      </p:sp>
      <p:sp>
        <p:nvSpPr>
          <p:cNvPr id="6" name="Text 4"/>
          <p:cNvSpPr/>
          <p:nvPr/>
        </p:nvSpPr>
        <p:spPr>
          <a:xfrm>
            <a:off x="8503920" y="4892040"/>
            <a:ext cx="457200" cy="251460"/>
          </a:xfrm>
          <a:prstGeom prst="rect">
            <a:avLst/>
          </a:prstGeom>
          <a:noFill/>
          <a:ln/>
        </p:spPr>
        <p:txBody>
          <a:bodyPr wrap="square" rtlCol="0" anchor="ctr"/>
          <a:lstStyle/>
          <a:p>
            <a:pPr algn="r" indent="0" marL="0">
              <a:buNone/>
            </a:pPr>
            <a:r>
              <a:rPr lang="en-US" sz="900" dirty="0">
                <a:solidFill>
                  <a:srgbClr val="546E7A"/>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274320" y="777240"/>
            <a:ext cx="8595360" cy="896112"/>
          </a:xfrm>
          <a:prstGeom prst="rect">
            <a:avLst/>
          </a:prstGeom>
          <a:solidFill>
            <a:srgbClr val="F1F8E9"/>
          </a:solidFill>
          <a:ln/>
          <a:effectLst>
            <a:outerShdw sx="100000" sy="100000" kx="0" ky="0" algn="bl" rotWithShape="0" blurRad="38100" dist="12700" dir="16200000">
              <a:srgbClr val="000000">
                <a:alpha val="7000"/>
              </a:srgbClr>
            </a:outerShdw>
          </a:effectLst>
        </p:spPr>
      </p:sp>
      <p:sp>
        <p:nvSpPr>
          <p:cNvPr id="8" name="Shape 6"/>
          <p:cNvSpPr/>
          <p:nvPr/>
        </p:nvSpPr>
        <p:spPr>
          <a:xfrm>
            <a:off x="274320" y="777240"/>
            <a:ext cx="411480" cy="896112"/>
          </a:xfrm>
          <a:prstGeom prst="rect">
            <a:avLst/>
          </a:prstGeom>
          <a:solidFill>
            <a:srgbClr val="1B5E20"/>
          </a:solidFill>
          <a:ln/>
        </p:spPr>
      </p:sp>
      <p:sp>
        <p:nvSpPr>
          <p:cNvPr id="9" name="Text 7"/>
          <p:cNvSpPr/>
          <p:nvPr/>
        </p:nvSpPr>
        <p:spPr>
          <a:xfrm>
            <a:off x="274320" y="777240"/>
            <a:ext cx="411480" cy="8961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777240" y="822960"/>
            <a:ext cx="6858000" cy="530352"/>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Gamified Learning Platforms: Transforming Student Engagement through Digital Tools (2025)</a:t>
            </a:r>
            <a:endParaRPr lang="en-US" sz="1150" dirty="0"/>
          </a:p>
        </p:txBody>
      </p:sp>
      <p:sp>
        <p:nvSpPr>
          <p:cNvPr id="11" name="Text 9">
            <a:hlinkClick r:id="rId1" tooltip=""/>
          </p:cNvPr>
          <p:cNvSpPr/>
          <p:nvPr/>
        </p:nvSpPr>
        <p:spPr>
          <a:xfrm>
            <a:off x="777240" y="1344168"/>
            <a:ext cx="1645920" cy="256032"/>
          </a:xfrm>
          <a:prstGeom prst="rect">
            <a:avLst/>
          </a:prstGeom>
          <a:noFill/>
          <a:ln/>
        </p:spPr>
        <p:txBody>
          <a:bodyPr wrap="square" rtlCol="0" anchor="ctr"/>
          <a:lstStyle/>
          <a:p>
            <a:pPr indent="0" marL="0">
              <a:buNone/>
            </a:pPr>
            <a:r>
              <a:rPr lang="en-US" sz="1000" u="sng" dirty="0">
                <a:solidFill>
                  <a:srgbClr val="1565C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Click to open</a:t>
            </a:r>
            <a:endParaRPr lang="en-US" sz="1000" dirty="0"/>
          </a:p>
        </p:txBody>
      </p:sp>
      <p:sp>
        <p:nvSpPr>
          <p:cNvPr id="12" name="Shape 10"/>
          <p:cNvSpPr/>
          <p:nvPr/>
        </p:nvSpPr>
        <p:spPr>
          <a:xfrm>
            <a:off x="274320" y="1801368"/>
            <a:ext cx="8595360" cy="896112"/>
          </a:xfrm>
          <a:prstGeom prst="rect">
            <a:avLst/>
          </a:prstGeom>
          <a:solidFill>
            <a:srgbClr val="E8F4FD"/>
          </a:solidFill>
          <a:ln/>
          <a:effectLst>
            <a:outerShdw sx="100000" sy="100000" kx="0" ky="0" algn="bl" rotWithShape="0" blurRad="38100" dist="12700" dir="16200000">
              <a:srgbClr val="000000">
                <a:alpha val="7000"/>
              </a:srgbClr>
            </a:outerShdw>
          </a:effectLst>
        </p:spPr>
      </p:sp>
      <p:sp>
        <p:nvSpPr>
          <p:cNvPr id="13" name="Shape 11"/>
          <p:cNvSpPr/>
          <p:nvPr/>
        </p:nvSpPr>
        <p:spPr>
          <a:xfrm>
            <a:off x="274320" y="1801368"/>
            <a:ext cx="411480" cy="896112"/>
          </a:xfrm>
          <a:prstGeom prst="rect">
            <a:avLst/>
          </a:prstGeom>
          <a:solidFill>
            <a:srgbClr val="00695C"/>
          </a:solidFill>
          <a:ln/>
        </p:spPr>
      </p:sp>
      <p:sp>
        <p:nvSpPr>
          <p:cNvPr id="14" name="Text 12"/>
          <p:cNvSpPr/>
          <p:nvPr/>
        </p:nvSpPr>
        <p:spPr>
          <a:xfrm>
            <a:off x="274320" y="1801368"/>
            <a:ext cx="411480" cy="8961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777240" y="1847088"/>
            <a:ext cx="6858000" cy="530352"/>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Online Environmental Gamification and University Students' Pro-Environmental Organizational Citizenship Behaviour — MDPI Sustainability (2025)</a:t>
            </a:r>
            <a:endParaRPr lang="en-US" sz="1150" dirty="0"/>
          </a:p>
        </p:txBody>
      </p:sp>
      <p:sp>
        <p:nvSpPr>
          <p:cNvPr id="16" name="Text 14">
            <a:hlinkClick r:id="rId2" tooltip=""/>
          </p:cNvPr>
          <p:cNvSpPr/>
          <p:nvPr/>
        </p:nvSpPr>
        <p:spPr>
          <a:xfrm>
            <a:off x="777240" y="2368296"/>
            <a:ext cx="1645920" cy="256032"/>
          </a:xfrm>
          <a:prstGeom prst="rect">
            <a:avLst/>
          </a:prstGeom>
          <a:noFill/>
          <a:ln/>
        </p:spPr>
        <p:txBody>
          <a:bodyPr wrap="square" rtlCol="0" anchor="ctr"/>
          <a:lstStyle/>
          <a:p>
            <a:pPr indent="0" marL="0">
              <a:buNone/>
            </a:pPr>
            <a:r>
              <a:rPr lang="en-US" sz="1000" u="sng" dirty="0">
                <a:solidFill>
                  <a:srgbClr val="1565C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Click to open</a:t>
            </a:r>
            <a:endParaRPr lang="en-US" sz="1000" dirty="0"/>
          </a:p>
        </p:txBody>
      </p:sp>
      <p:sp>
        <p:nvSpPr>
          <p:cNvPr id="17" name="Shape 15"/>
          <p:cNvSpPr/>
          <p:nvPr/>
        </p:nvSpPr>
        <p:spPr>
          <a:xfrm>
            <a:off x="274320" y="2825496"/>
            <a:ext cx="8595360" cy="896112"/>
          </a:xfrm>
          <a:prstGeom prst="rect">
            <a:avLst/>
          </a:prstGeom>
          <a:solidFill>
            <a:srgbClr val="F1F8E9"/>
          </a:solidFill>
          <a:ln/>
          <a:effectLst>
            <a:outerShdw sx="100000" sy="100000" kx="0" ky="0" algn="bl" rotWithShape="0" blurRad="38100" dist="12700" dir="16200000">
              <a:srgbClr val="000000">
                <a:alpha val="7000"/>
              </a:srgbClr>
            </a:outerShdw>
          </a:effectLst>
        </p:spPr>
      </p:sp>
      <p:sp>
        <p:nvSpPr>
          <p:cNvPr id="18" name="Shape 16"/>
          <p:cNvSpPr/>
          <p:nvPr/>
        </p:nvSpPr>
        <p:spPr>
          <a:xfrm>
            <a:off x="274320" y="2825496"/>
            <a:ext cx="411480" cy="896112"/>
          </a:xfrm>
          <a:prstGeom prst="rect">
            <a:avLst/>
          </a:prstGeom>
          <a:solidFill>
            <a:srgbClr val="1B5E20"/>
          </a:solidFill>
          <a:ln/>
        </p:spPr>
      </p:sp>
      <p:sp>
        <p:nvSpPr>
          <p:cNvPr id="19" name="Text 17"/>
          <p:cNvSpPr/>
          <p:nvPr/>
        </p:nvSpPr>
        <p:spPr>
          <a:xfrm>
            <a:off x="274320" y="2825496"/>
            <a:ext cx="411480" cy="8961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777240" y="2871216"/>
            <a:ext cx="6858000" cy="530352"/>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Gamification of Sustainability Communication: Engaging Audiences Through Interactive Platforms — Research Corridor Journal (2020)</a:t>
            </a:r>
            <a:endParaRPr lang="en-US" sz="1150" dirty="0"/>
          </a:p>
        </p:txBody>
      </p:sp>
      <p:sp>
        <p:nvSpPr>
          <p:cNvPr id="21" name="Text 19">
            <a:hlinkClick r:id="rId3" tooltip=""/>
          </p:cNvPr>
          <p:cNvSpPr/>
          <p:nvPr/>
        </p:nvSpPr>
        <p:spPr>
          <a:xfrm>
            <a:off x="777240" y="3392424"/>
            <a:ext cx="1645920" cy="256032"/>
          </a:xfrm>
          <a:prstGeom prst="rect">
            <a:avLst/>
          </a:prstGeom>
          <a:noFill/>
          <a:ln/>
        </p:spPr>
        <p:txBody>
          <a:bodyPr wrap="square" rtlCol="0" anchor="ctr"/>
          <a:lstStyle/>
          <a:p>
            <a:pPr indent="0" marL="0">
              <a:buNone/>
            </a:pPr>
            <a:r>
              <a:rPr lang="en-US" sz="1000" u="sng" dirty="0">
                <a:solidFill>
                  <a:srgbClr val="1565C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Click to open</a:t>
            </a:r>
            <a:endParaRPr lang="en-US" sz="1000" dirty="0"/>
          </a:p>
        </p:txBody>
      </p:sp>
      <p:sp>
        <p:nvSpPr>
          <p:cNvPr id="22" name="Shape 20"/>
          <p:cNvSpPr/>
          <p:nvPr/>
        </p:nvSpPr>
        <p:spPr>
          <a:xfrm>
            <a:off x="274320" y="3849624"/>
            <a:ext cx="8595360" cy="896112"/>
          </a:xfrm>
          <a:prstGeom prst="rect">
            <a:avLst/>
          </a:prstGeom>
          <a:solidFill>
            <a:srgbClr val="E8F4FD"/>
          </a:solidFill>
          <a:ln/>
          <a:effectLst>
            <a:outerShdw sx="100000" sy="100000" kx="0" ky="0" algn="bl" rotWithShape="0" blurRad="38100" dist="12700" dir="16200000">
              <a:srgbClr val="000000">
                <a:alpha val="7000"/>
              </a:srgbClr>
            </a:outerShdw>
          </a:effectLst>
        </p:spPr>
      </p:sp>
      <p:sp>
        <p:nvSpPr>
          <p:cNvPr id="23" name="Shape 21"/>
          <p:cNvSpPr/>
          <p:nvPr/>
        </p:nvSpPr>
        <p:spPr>
          <a:xfrm>
            <a:off x="274320" y="3849624"/>
            <a:ext cx="411480" cy="896112"/>
          </a:xfrm>
          <a:prstGeom prst="rect">
            <a:avLst/>
          </a:prstGeom>
          <a:solidFill>
            <a:srgbClr val="00695C"/>
          </a:solidFill>
          <a:ln/>
        </p:spPr>
      </p:sp>
      <p:sp>
        <p:nvSpPr>
          <p:cNvPr id="24" name="Text 22"/>
          <p:cNvSpPr/>
          <p:nvPr/>
        </p:nvSpPr>
        <p:spPr>
          <a:xfrm>
            <a:off x="274320" y="3849624"/>
            <a:ext cx="411480" cy="8961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777240" y="3895344"/>
            <a:ext cx="6858000" cy="530352"/>
          </a:xfrm>
          <a:prstGeom prst="rect">
            <a:avLst/>
          </a:prstGeom>
          <a:noFill/>
          <a:ln/>
        </p:spPr>
        <p:txBody>
          <a:bodyPr wrap="square" rtlCol="0" anchor="t"/>
          <a:lstStyle/>
          <a:p>
            <a:pPr indent="0" marL="0">
              <a:buNone/>
            </a:pPr>
            <a:r>
              <a:rPr lang="en-US" sz="1150" dirty="0">
                <a:solidFill>
                  <a:srgbClr val="2D2D2D"/>
                </a:solidFill>
                <a:latin typeface="Calibri" pitchFamily="34" charset="0"/>
                <a:ea typeface="Calibri" pitchFamily="34" charset="-122"/>
                <a:cs typeface="Calibri" pitchFamily="34" charset="-120"/>
              </a:rPr>
              <a:t>The Game with Impact: Gamification in Environmental Education and Entrepreneurship — ResearchGate (2015)</a:t>
            </a:r>
            <a:endParaRPr lang="en-US" sz="1150" dirty="0"/>
          </a:p>
        </p:txBody>
      </p:sp>
      <p:sp>
        <p:nvSpPr>
          <p:cNvPr id="26" name="Text 24">
            <a:hlinkClick r:id="rId4" tooltip=""/>
          </p:cNvPr>
          <p:cNvSpPr/>
          <p:nvPr/>
        </p:nvSpPr>
        <p:spPr>
          <a:xfrm>
            <a:off x="777240" y="4416552"/>
            <a:ext cx="1645920" cy="256032"/>
          </a:xfrm>
          <a:prstGeom prst="rect">
            <a:avLst/>
          </a:prstGeom>
          <a:noFill/>
          <a:ln/>
        </p:spPr>
        <p:txBody>
          <a:bodyPr wrap="square" rtlCol="0" anchor="ctr"/>
          <a:lstStyle/>
          <a:p>
            <a:pPr indent="0" marL="0">
              <a:buNone/>
            </a:pPr>
            <a:r>
              <a:rPr lang="en-US" sz="1000" u="sng" dirty="0">
                <a:solidFill>
                  <a:srgbClr val="1565C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 Click to open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5E2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p:spPr>
      </p:sp>
      <p:sp>
        <p:nvSpPr>
          <p:cNvPr id="3" name="Shape 1"/>
          <p:cNvSpPr/>
          <p:nvPr/>
        </p:nvSpPr>
        <p:spPr>
          <a:xfrm>
            <a:off x="0" y="5070348"/>
            <a:ext cx="9144000" cy="73152"/>
          </a:xfrm>
          <a:prstGeom prst="rect">
            <a:avLst/>
          </a:prstGeom>
          <a:solidFill>
            <a:srgbClr val="F9A825"/>
          </a:solidFill>
          <a:ln/>
        </p:spPr>
      </p:sp>
      <p:sp>
        <p:nvSpPr>
          <p:cNvPr id="4" name="Text 2"/>
          <p:cNvSpPr/>
          <p:nvPr/>
        </p:nvSpPr>
        <p:spPr>
          <a:xfrm>
            <a:off x="0" y="914400"/>
            <a:ext cx="9144000" cy="82296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1737360"/>
            <a:ext cx="9144000" cy="1097280"/>
          </a:xfrm>
          <a:prstGeom prst="rect">
            <a:avLst/>
          </a:prstGeom>
          <a:noFill/>
          <a:ln/>
        </p:spPr>
        <p:txBody>
          <a:bodyPr wrap="square"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6" name="Text 4"/>
          <p:cNvSpPr/>
          <p:nvPr/>
        </p:nvSpPr>
        <p:spPr>
          <a:xfrm>
            <a:off x="0" y="2834640"/>
            <a:ext cx="9144000" cy="457200"/>
          </a:xfrm>
          <a:prstGeom prst="rect">
            <a:avLst/>
          </a:prstGeom>
          <a:noFill/>
          <a:ln/>
        </p:spPr>
        <p:txBody>
          <a:bodyPr wrap="square" rtlCol="0" anchor="ctr"/>
          <a:lstStyle/>
          <a:p>
            <a:pPr algn="ctr" indent="0" marL="0">
              <a:buNone/>
            </a:pPr>
            <a:r>
              <a:rPr lang="en-US" sz="2000" i="1" dirty="0">
                <a:solidFill>
                  <a:srgbClr val="A5D6A7"/>
                </a:solidFill>
                <a:latin typeface="Calibri" pitchFamily="34" charset="0"/>
                <a:ea typeface="Calibri" pitchFamily="34" charset="-122"/>
                <a:cs typeface="Calibri" pitchFamily="34" charset="-120"/>
              </a:rPr>
              <a:t>for your attention</a:t>
            </a:r>
            <a:endParaRPr lang="en-US" sz="2000" dirty="0"/>
          </a:p>
        </p:txBody>
      </p:sp>
      <p:sp>
        <p:nvSpPr>
          <p:cNvPr id="7" name="Shape 5"/>
          <p:cNvSpPr/>
          <p:nvPr/>
        </p:nvSpPr>
        <p:spPr>
          <a:xfrm>
            <a:off x="2743200" y="3429000"/>
            <a:ext cx="3657600" cy="27432"/>
          </a:xfrm>
          <a:prstGeom prst="rect">
            <a:avLst/>
          </a:prstGeom>
          <a:solidFill>
            <a:srgbClr val="4CAF50"/>
          </a:solidFill>
          <a:ln/>
        </p:spPr>
      </p:sp>
      <p:sp>
        <p:nvSpPr>
          <p:cNvPr id="8" name="Text 6"/>
          <p:cNvSpPr/>
          <p:nvPr/>
        </p:nvSpPr>
        <p:spPr>
          <a:xfrm>
            <a:off x="0" y="3566160"/>
            <a:ext cx="9144000" cy="365760"/>
          </a:xfrm>
          <a:prstGeom prst="rect">
            <a:avLst/>
          </a:prstGeom>
          <a:noFill/>
          <a:ln/>
        </p:spPr>
        <p:txBody>
          <a:bodyPr wrap="square" rtlCol="0" anchor="ctr"/>
          <a:lstStyle/>
          <a:p>
            <a:pPr algn="ctr" indent="0" marL="0">
              <a:buNone/>
            </a:pPr>
            <a:r>
              <a:rPr lang="en-US" sz="1200" dirty="0">
                <a:solidFill>
                  <a:srgbClr val="C8E6C9"/>
                </a:solidFill>
                <a:latin typeface="Calibri" pitchFamily="34" charset="0"/>
                <a:ea typeface="Calibri" pitchFamily="34" charset="-122"/>
                <a:cs typeface="Calibri" pitchFamily="34" charset="-120"/>
              </a:rPr>
              <a:t>EnviroLearn — A Gamified Environmental Education Platform for Schools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EnviroLearn</dc:title>
  <dc:subject>PptxGenJS Presentation</dc:subject>
  <dc:creator>PptxGenJS</dc:creator>
  <cp:lastModifiedBy>PptxGenJS</cp:lastModifiedBy>
  <cp:revision>1</cp:revision>
  <dcterms:created xsi:type="dcterms:W3CDTF">2026-03-08T15:23:13Z</dcterms:created>
  <dcterms:modified xsi:type="dcterms:W3CDTF">2026-03-08T15:23:13Z</dcterms:modified>
</cp:coreProperties>
</file>